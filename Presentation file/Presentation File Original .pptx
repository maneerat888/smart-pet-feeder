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Bricolage Grotesque Bold" charset="1" panose="020B0605040402000204"/>
      <p:regular r:id="rId24"/>
    </p:embeddedFont>
    <p:embeddedFont>
      <p:font typeface="Bricolage Grotesque Medium" charset="1" panose="020B0605040402000204"/>
      <p:regular r:id="rId25"/>
    </p:embeddedFont>
    <p:embeddedFont>
      <p:font typeface="Bricolage Grotesque" charset="1" panose="020B0605040402000204"/>
      <p:regular r:id="rId26"/>
    </p:embeddedFont>
    <p:embeddedFont>
      <p:font typeface="Canva Sans 2" charset="1" panose="020B0503030501040103"/>
      <p:regular r:id="rId27"/>
    </p:embeddedFont>
    <p:embeddedFont>
      <p:font typeface="Canva Sans 2 Medium" charset="1" panose="020B06030305010401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3.jpeg" Type="http://schemas.openxmlformats.org/officeDocument/2006/relationships/image"/><Relationship Id="rId9" Target="../media/image2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 Id="rId9"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46.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4.jpe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5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https://drive.google.com/file/d/1R_8i3zUqNFg2drO3YBUSq5LHSIOIitvf/view?usp=drivesdk" TargetMode="External" Type="http://schemas.openxmlformats.org/officeDocument/2006/relationships/hyperlink"/><Relationship Id="rId7" Target="../media/image7.png" Type="http://schemas.openxmlformats.org/officeDocument/2006/relationships/image"/><Relationship Id="rId8"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1028700" y="6167844"/>
            <a:ext cx="254200" cy="1162177"/>
            <a:chOff x="0" y="0"/>
            <a:chExt cx="66950" cy="306088"/>
          </a:xfrm>
        </p:grpSpPr>
        <p:sp>
          <p:nvSpPr>
            <p:cNvPr name="Freeform 3" id="3"/>
            <p:cNvSpPr/>
            <p:nvPr/>
          </p:nvSpPr>
          <p:spPr>
            <a:xfrm flipH="false" flipV="false" rot="0">
              <a:off x="0" y="0"/>
              <a:ext cx="66950" cy="306088"/>
            </a:xfrm>
            <a:custGeom>
              <a:avLst/>
              <a:gdLst/>
              <a:ahLst/>
              <a:cxnLst/>
              <a:rect r="r" b="b" t="t" l="l"/>
              <a:pathLst>
                <a:path h="306088" w="66950">
                  <a:moveTo>
                    <a:pt x="33475" y="0"/>
                  </a:moveTo>
                  <a:lnTo>
                    <a:pt x="33475" y="0"/>
                  </a:lnTo>
                  <a:cubicBezTo>
                    <a:pt x="42353" y="0"/>
                    <a:pt x="50868" y="3527"/>
                    <a:pt x="57145" y="9805"/>
                  </a:cubicBezTo>
                  <a:cubicBezTo>
                    <a:pt x="63423" y="16082"/>
                    <a:pt x="66950" y="24597"/>
                    <a:pt x="66950" y="33475"/>
                  </a:cubicBezTo>
                  <a:lnTo>
                    <a:pt x="66950" y="272613"/>
                  </a:lnTo>
                  <a:cubicBezTo>
                    <a:pt x="66950" y="291100"/>
                    <a:pt x="51963" y="306088"/>
                    <a:pt x="33475" y="306088"/>
                  </a:cubicBezTo>
                  <a:lnTo>
                    <a:pt x="33475" y="306088"/>
                  </a:lnTo>
                  <a:cubicBezTo>
                    <a:pt x="14987" y="306088"/>
                    <a:pt x="0" y="291100"/>
                    <a:pt x="0" y="272613"/>
                  </a:cubicBezTo>
                  <a:lnTo>
                    <a:pt x="0" y="33475"/>
                  </a:lnTo>
                  <a:cubicBezTo>
                    <a:pt x="0" y="14987"/>
                    <a:pt x="14987" y="0"/>
                    <a:pt x="33475" y="0"/>
                  </a:cubicBezTo>
                  <a:close/>
                </a:path>
              </a:pathLst>
            </a:custGeom>
            <a:solidFill>
              <a:srgbClr val="FFFFFF"/>
            </a:solidFill>
          </p:spPr>
        </p:sp>
        <p:sp>
          <p:nvSpPr>
            <p:cNvPr name="TextBox 4" id="4"/>
            <p:cNvSpPr txBox="true"/>
            <p:nvPr/>
          </p:nvSpPr>
          <p:spPr>
            <a:xfrm>
              <a:off x="0" y="-38100"/>
              <a:ext cx="66950" cy="3441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88745" y="0"/>
            <a:ext cx="20574000" cy="10287000"/>
            <a:chOff x="0" y="0"/>
            <a:chExt cx="27432000" cy="13716000"/>
          </a:xfrm>
        </p:grpSpPr>
        <p:sp>
          <p:nvSpPr>
            <p:cNvPr name="Freeform 6" id="6"/>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8" id="8"/>
          <p:cNvSpPr/>
          <p:nvPr/>
        </p:nvSpPr>
        <p:spPr>
          <a:xfrm flipH="false" flipV="false" rot="0">
            <a:off x="14954174" y="7197560"/>
            <a:ext cx="3746991" cy="3627755"/>
          </a:xfrm>
          <a:custGeom>
            <a:avLst/>
            <a:gdLst/>
            <a:ahLst/>
            <a:cxnLst/>
            <a:rect r="r" b="b" t="t" l="l"/>
            <a:pathLst>
              <a:path h="3627755" w="3746991">
                <a:moveTo>
                  <a:pt x="0" y="0"/>
                </a:moveTo>
                <a:lnTo>
                  <a:pt x="3746991" y="0"/>
                </a:lnTo>
                <a:lnTo>
                  <a:pt x="3746991" y="3627755"/>
                </a:lnTo>
                <a:lnTo>
                  <a:pt x="0" y="36277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8179248" y="778889"/>
            <a:ext cx="2249680" cy="2178091"/>
          </a:xfrm>
          <a:custGeom>
            <a:avLst/>
            <a:gdLst/>
            <a:ahLst/>
            <a:cxnLst/>
            <a:rect r="r" b="b" t="t" l="l"/>
            <a:pathLst>
              <a:path h="2178091" w="2249680">
                <a:moveTo>
                  <a:pt x="2249680" y="0"/>
                </a:moveTo>
                <a:lnTo>
                  <a:pt x="0" y="0"/>
                </a:lnTo>
                <a:lnTo>
                  <a:pt x="0" y="2178091"/>
                </a:lnTo>
                <a:lnTo>
                  <a:pt x="2249680" y="2178091"/>
                </a:lnTo>
                <a:lnTo>
                  <a:pt x="224968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326073" y="1701003"/>
            <a:ext cx="5935913" cy="7557297"/>
          </a:xfrm>
          <a:custGeom>
            <a:avLst/>
            <a:gdLst/>
            <a:ahLst/>
            <a:cxnLst/>
            <a:rect r="r" b="b" t="t" l="l"/>
            <a:pathLst>
              <a:path h="7557297" w="5935913">
                <a:moveTo>
                  <a:pt x="0" y="0"/>
                </a:moveTo>
                <a:lnTo>
                  <a:pt x="5935913" y="0"/>
                </a:lnTo>
                <a:lnTo>
                  <a:pt x="5935913" y="7557297"/>
                </a:lnTo>
                <a:lnTo>
                  <a:pt x="0" y="7557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0828978" y="3417404"/>
            <a:ext cx="1410345" cy="1365465"/>
          </a:xfrm>
          <a:custGeom>
            <a:avLst/>
            <a:gdLst/>
            <a:ahLst/>
            <a:cxnLst/>
            <a:rect r="r" b="b" t="t" l="l"/>
            <a:pathLst>
              <a:path h="1365465" w="1410345">
                <a:moveTo>
                  <a:pt x="0" y="0"/>
                </a:moveTo>
                <a:lnTo>
                  <a:pt x="1410345" y="0"/>
                </a:lnTo>
                <a:lnTo>
                  <a:pt x="1410345" y="1365466"/>
                </a:lnTo>
                <a:lnTo>
                  <a:pt x="0" y="13654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028700" y="2785530"/>
            <a:ext cx="7744715" cy="3160622"/>
          </a:xfrm>
          <a:prstGeom prst="rect">
            <a:avLst/>
          </a:prstGeom>
        </p:spPr>
        <p:txBody>
          <a:bodyPr anchor="t" rtlCol="false" tIns="0" lIns="0" bIns="0" rIns="0">
            <a:spAutoFit/>
          </a:bodyPr>
          <a:lstStyle/>
          <a:p>
            <a:pPr algn="l">
              <a:lnSpc>
                <a:spcPts val="12692"/>
              </a:lnSpc>
            </a:pPr>
            <a:r>
              <a:rPr lang="en-US" sz="9066" b="true">
                <a:solidFill>
                  <a:srgbClr val="FFFFFF"/>
                </a:solidFill>
                <a:latin typeface="Bricolage Grotesque Bold"/>
                <a:ea typeface="Bricolage Grotesque Bold"/>
                <a:cs typeface="Bricolage Grotesque Bold"/>
                <a:sym typeface="Bricolage Grotesque Bold"/>
              </a:rPr>
              <a:t>SMART</a:t>
            </a:r>
          </a:p>
          <a:p>
            <a:pPr algn="l">
              <a:lnSpc>
                <a:spcPts val="12692"/>
              </a:lnSpc>
              <a:spcBef>
                <a:spcPct val="0"/>
              </a:spcBef>
            </a:pPr>
            <a:r>
              <a:rPr lang="en-US" sz="9066" b="true">
                <a:solidFill>
                  <a:srgbClr val="FFFFFF"/>
                </a:solidFill>
                <a:latin typeface="Bricolage Grotesque Bold"/>
                <a:ea typeface="Bricolage Grotesque Bold"/>
                <a:cs typeface="Bricolage Grotesque Bold"/>
                <a:sym typeface="Bricolage Grotesque Bold"/>
              </a:rPr>
              <a:t>PET FEEDER</a:t>
            </a:r>
          </a:p>
        </p:txBody>
      </p:sp>
      <p:sp>
        <p:nvSpPr>
          <p:cNvPr name="TextBox 13" id="13"/>
          <p:cNvSpPr txBox="true"/>
          <p:nvPr/>
        </p:nvSpPr>
        <p:spPr>
          <a:xfrm rot="0">
            <a:off x="1028700" y="8892540"/>
            <a:ext cx="3571054" cy="365760"/>
          </a:xfrm>
          <a:prstGeom prst="rect">
            <a:avLst/>
          </a:prstGeom>
        </p:spPr>
        <p:txBody>
          <a:bodyPr anchor="t" rtlCol="false" tIns="0" lIns="0" bIns="0" rIns="0">
            <a:spAutoFit/>
          </a:bodyPr>
          <a:lstStyle/>
          <a:p>
            <a:pPr algn="l">
              <a:lnSpc>
                <a:spcPts val="2940"/>
              </a:lnSpc>
              <a:spcBef>
                <a:spcPct val="0"/>
              </a:spcBef>
            </a:pPr>
            <a:r>
              <a:rPr lang="en-US" b="true" sz="2100">
                <a:solidFill>
                  <a:srgbClr val="FFFFFF"/>
                </a:solidFill>
                <a:latin typeface="Bricolage Grotesque Medium"/>
                <a:ea typeface="Bricolage Grotesque Medium"/>
                <a:cs typeface="Bricolage Grotesque Medium"/>
                <a:sym typeface="Bricolage Grotesque Medium"/>
              </a:rPr>
              <a:t>Presented by Pp</a:t>
            </a:r>
          </a:p>
        </p:txBody>
      </p:sp>
      <p:sp>
        <p:nvSpPr>
          <p:cNvPr name="TextBox 14" id="14"/>
          <p:cNvSpPr txBox="true"/>
          <p:nvPr/>
        </p:nvSpPr>
        <p:spPr>
          <a:xfrm rot="0">
            <a:off x="1483186" y="6340608"/>
            <a:ext cx="2288271" cy="702348"/>
          </a:xfrm>
          <a:prstGeom prst="rect">
            <a:avLst/>
          </a:prstGeom>
        </p:spPr>
        <p:txBody>
          <a:bodyPr anchor="t" rtlCol="false" tIns="0" lIns="0" bIns="0" rIns="0">
            <a:spAutoFit/>
          </a:bodyPr>
          <a:lstStyle/>
          <a:p>
            <a:pPr algn="ctr">
              <a:lnSpc>
                <a:spcPts val="5756"/>
              </a:lnSpc>
            </a:pPr>
            <a:r>
              <a:rPr lang="en-US" sz="4111" b="true">
                <a:solidFill>
                  <a:srgbClr val="FFFFFF"/>
                </a:solidFill>
                <a:latin typeface="Bricolage Grotesque Bold"/>
                <a:ea typeface="Bricolage Grotesque Bold"/>
                <a:cs typeface="Bricolage Grotesque Bold"/>
                <a:sym typeface="Bricolage Grotesque Bold"/>
              </a:rPr>
              <a:t>welcome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597378" y="2009106"/>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true" flipV="false" rot="4161597">
            <a:off x="3960021" y="5313268"/>
            <a:ext cx="3287577" cy="5656046"/>
          </a:xfrm>
          <a:custGeom>
            <a:avLst/>
            <a:gdLst/>
            <a:ahLst/>
            <a:cxnLst/>
            <a:rect r="r" b="b" t="t" l="l"/>
            <a:pathLst>
              <a:path h="5656046" w="3287577">
                <a:moveTo>
                  <a:pt x="3287577" y="0"/>
                </a:moveTo>
                <a:lnTo>
                  <a:pt x="0" y="0"/>
                </a:lnTo>
                <a:lnTo>
                  <a:pt x="0" y="5656046"/>
                </a:lnTo>
                <a:lnTo>
                  <a:pt x="3287577" y="5656046"/>
                </a:lnTo>
                <a:lnTo>
                  <a:pt x="328757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4161597">
            <a:off x="12466520" y="-1123982"/>
            <a:ext cx="3287577" cy="5656046"/>
          </a:xfrm>
          <a:custGeom>
            <a:avLst/>
            <a:gdLst/>
            <a:ahLst/>
            <a:cxnLst/>
            <a:rect r="r" b="b" t="t" l="l"/>
            <a:pathLst>
              <a:path h="5656046" w="3287577">
                <a:moveTo>
                  <a:pt x="3287577" y="0"/>
                </a:moveTo>
                <a:lnTo>
                  <a:pt x="0" y="0"/>
                </a:lnTo>
                <a:lnTo>
                  <a:pt x="0" y="5656046"/>
                </a:lnTo>
                <a:lnTo>
                  <a:pt x="3287577" y="5656046"/>
                </a:lnTo>
                <a:lnTo>
                  <a:pt x="328757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683577" y="885825"/>
            <a:ext cx="8920846" cy="1236345"/>
          </a:xfrm>
          <a:prstGeom prst="rect">
            <a:avLst/>
          </a:prstGeom>
        </p:spPr>
        <p:txBody>
          <a:bodyPr anchor="t" rtlCol="false" tIns="0" lIns="0" bIns="0" rIns="0">
            <a:spAutoFit/>
          </a:bodyPr>
          <a:lstStyle/>
          <a:p>
            <a:pPr algn="ctr">
              <a:lnSpc>
                <a:spcPts val="10080"/>
              </a:lnSpc>
              <a:spcBef>
                <a:spcPct val="0"/>
              </a:spcBef>
            </a:pPr>
            <a:r>
              <a:rPr lang="en-US" b="true" sz="7200">
                <a:solidFill>
                  <a:srgbClr val="FFFFFF"/>
                </a:solidFill>
                <a:latin typeface="Bricolage Grotesque Bold"/>
                <a:ea typeface="Bricolage Grotesque Bold"/>
                <a:cs typeface="Bricolage Grotesque Bold"/>
                <a:sym typeface="Bricolage Grotesque Bold"/>
              </a:rPr>
              <a:t>Pp</a:t>
            </a:r>
          </a:p>
        </p:txBody>
      </p:sp>
      <p:sp>
        <p:nvSpPr>
          <p:cNvPr name="Freeform 8" id="8"/>
          <p:cNvSpPr/>
          <p:nvPr/>
        </p:nvSpPr>
        <p:spPr>
          <a:xfrm flipH="true" flipV="false" rot="0">
            <a:off x="16546153" y="8809672"/>
            <a:ext cx="926746" cy="897255"/>
          </a:xfrm>
          <a:custGeom>
            <a:avLst/>
            <a:gdLst/>
            <a:ahLst/>
            <a:cxnLst/>
            <a:rect r="r" b="b" t="t" l="l"/>
            <a:pathLst>
              <a:path h="897255" w="926746">
                <a:moveTo>
                  <a:pt x="926745" y="0"/>
                </a:moveTo>
                <a:lnTo>
                  <a:pt x="0" y="0"/>
                </a:lnTo>
                <a:lnTo>
                  <a:pt x="0" y="897255"/>
                </a:lnTo>
                <a:lnTo>
                  <a:pt x="926745" y="897255"/>
                </a:lnTo>
                <a:lnTo>
                  <a:pt x="926745"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6138457" y="3917307"/>
            <a:ext cx="6011087" cy="2452387"/>
            <a:chOff x="0" y="0"/>
            <a:chExt cx="8014782" cy="3269849"/>
          </a:xfrm>
        </p:grpSpPr>
        <p:sp>
          <p:nvSpPr>
            <p:cNvPr name="TextBox 10" id="10"/>
            <p:cNvSpPr txBox="true"/>
            <p:nvPr/>
          </p:nvSpPr>
          <p:spPr>
            <a:xfrm rot="0">
              <a:off x="0" y="-57150"/>
              <a:ext cx="7819469" cy="536426"/>
            </a:xfrm>
            <a:prstGeom prst="rect">
              <a:avLst/>
            </a:prstGeom>
          </p:spPr>
          <p:txBody>
            <a:bodyPr anchor="t" rtlCol="false" tIns="0" lIns="0" bIns="0" rIns="0">
              <a:spAutoFit/>
            </a:bodyPr>
            <a:lstStyle/>
            <a:p>
              <a:pPr algn="l">
                <a:lnSpc>
                  <a:spcPts val="3308"/>
                </a:lnSpc>
                <a:spcBef>
                  <a:spcPct val="0"/>
                </a:spcBef>
              </a:pPr>
              <a:r>
                <a:rPr lang="en-US" b="true" sz="2363">
                  <a:solidFill>
                    <a:srgbClr val="FFFFFF"/>
                  </a:solidFill>
                  <a:latin typeface="Bricolage Grotesque Bold"/>
                  <a:ea typeface="Bricolage Grotesque Bold"/>
                  <a:cs typeface="Bricolage Grotesque Bold"/>
                  <a:sym typeface="Bricolage Grotesque Bold"/>
                </a:rPr>
                <a:t>Maneerat Sangkaosud   2411311778</a:t>
              </a:r>
            </a:p>
          </p:txBody>
        </p:sp>
        <p:sp>
          <p:nvSpPr>
            <p:cNvPr name="TextBox 11" id="11"/>
            <p:cNvSpPr txBox="true"/>
            <p:nvPr/>
          </p:nvSpPr>
          <p:spPr>
            <a:xfrm rot="0">
              <a:off x="195313" y="780849"/>
              <a:ext cx="7819469" cy="1095734"/>
            </a:xfrm>
            <a:prstGeom prst="rect">
              <a:avLst/>
            </a:prstGeom>
          </p:spPr>
          <p:txBody>
            <a:bodyPr anchor="t" rtlCol="false" tIns="0" lIns="0" bIns="0" rIns="0">
              <a:spAutoFit/>
            </a:bodyPr>
            <a:lstStyle/>
            <a:p>
              <a:pPr algn="l">
                <a:lnSpc>
                  <a:spcPts val="3308"/>
                </a:lnSpc>
              </a:pPr>
            </a:p>
            <a:p>
              <a:pPr algn="l">
                <a:lnSpc>
                  <a:spcPts val="3308"/>
                </a:lnSpc>
                <a:spcBef>
                  <a:spcPct val="0"/>
                </a:spcBef>
              </a:pPr>
              <a:r>
                <a:rPr lang="en-US" b="true" sz="2363">
                  <a:solidFill>
                    <a:srgbClr val="FFFFFF"/>
                  </a:solidFill>
                  <a:latin typeface="Bricolage Grotesque Bold"/>
                  <a:ea typeface="Bricolage Grotesque Bold"/>
                  <a:cs typeface="Bricolage Grotesque Bold"/>
                  <a:sym typeface="Bricolage Grotesque Bold"/>
                </a:rPr>
                <a:t>Sainam Luo  2411311786</a:t>
              </a:r>
            </a:p>
          </p:txBody>
        </p:sp>
        <p:sp>
          <p:nvSpPr>
            <p:cNvPr name="TextBox 12" id="12"/>
            <p:cNvSpPr txBox="true"/>
            <p:nvPr/>
          </p:nvSpPr>
          <p:spPr>
            <a:xfrm rot="0">
              <a:off x="195313" y="2174116"/>
              <a:ext cx="7819469" cy="1095734"/>
            </a:xfrm>
            <a:prstGeom prst="rect">
              <a:avLst/>
            </a:prstGeom>
          </p:spPr>
          <p:txBody>
            <a:bodyPr anchor="t" rtlCol="false" tIns="0" lIns="0" bIns="0" rIns="0">
              <a:spAutoFit/>
            </a:bodyPr>
            <a:lstStyle/>
            <a:p>
              <a:pPr algn="l">
                <a:lnSpc>
                  <a:spcPts val="3308"/>
                </a:lnSpc>
              </a:pPr>
            </a:p>
            <a:p>
              <a:pPr algn="l">
                <a:lnSpc>
                  <a:spcPts val="3308"/>
                </a:lnSpc>
                <a:spcBef>
                  <a:spcPct val="0"/>
                </a:spcBef>
              </a:pPr>
              <a:r>
                <a:rPr lang="en-US" b="true" sz="2363">
                  <a:solidFill>
                    <a:srgbClr val="FFFFFF"/>
                  </a:solidFill>
                  <a:latin typeface="Bricolage Grotesque Bold"/>
                  <a:ea typeface="Bricolage Grotesque Bold"/>
                  <a:cs typeface="Bricolage Grotesque Bold"/>
                  <a:sym typeface="Bricolage Grotesque Bold"/>
                </a:rPr>
                <a:t>Teekatas Borinayok   2211310020</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726723"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28700" y="781050"/>
            <a:ext cx="7951863"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Project Overview</a:t>
            </a:r>
          </a:p>
        </p:txBody>
      </p:sp>
      <p:sp>
        <p:nvSpPr>
          <p:cNvPr name="TextBox 6" id="6"/>
          <p:cNvSpPr txBox="true"/>
          <p:nvPr/>
        </p:nvSpPr>
        <p:spPr>
          <a:xfrm rot="0">
            <a:off x="1802452" y="2810639"/>
            <a:ext cx="14683095" cy="3896749"/>
          </a:xfrm>
          <a:prstGeom prst="rect">
            <a:avLst/>
          </a:prstGeom>
        </p:spPr>
        <p:txBody>
          <a:bodyPr anchor="t" rtlCol="false" tIns="0" lIns="0" bIns="0" rIns="0">
            <a:spAutoFit/>
          </a:bodyPr>
          <a:lstStyle/>
          <a:p>
            <a:pPr algn="l">
              <a:lnSpc>
                <a:spcPts val="3093"/>
              </a:lnSpc>
            </a:pPr>
            <a:r>
              <a:rPr lang="en-US" sz="2209">
                <a:solidFill>
                  <a:srgbClr val="FFFFFF"/>
                </a:solidFill>
                <a:latin typeface="Bricolage Grotesque"/>
                <a:ea typeface="Bricolage Grotesque"/>
                <a:cs typeface="Bricolage Grotesque"/>
                <a:sym typeface="Bricolage Grotesque"/>
              </a:rPr>
              <a:t>  Smart Pet Feeder is an automatic pet feeding system developed using ESP32. The system can dispense pet food automatically every 10 seconds. Users can also feed their pets manually using a push button.</a:t>
            </a:r>
          </a:p>
          <a:p>
            <a:pPr algn="l">
              <a:lnSpc>
                <a:spcPts val="3093"/>
              </a:lnSpc>
            </a:pPr>
          </a:p>
          <a:p>
            <a:pPr algn="l">
              <a:lnSpc>
                <a:spcPts val="3093"/>
              </a:lnSpc>
            </a:pPr>
            <a:r>
              <a:rPr lang="en-US" sz="2209">
                <a:solidFill>
                  <a:srgbClr val="FFFFFF"/>
                </a:solidFill>
                <a:latin typeface="Bricolage Grotesque"/>
                <a:ea typeface="Bricolage Grotesque"/>
                <a:cs typeface="Bricolage Grotesque"/>
                <a:sym typeface="Bricolage Grotesque"/>
              </a:rPr>
              <a:t>The system can check the food level and alert the user when the food is low or empty. It can also detect the pet, count the number of times food is dispensed, and count how many times the pet comes to eat after the system starts.</a:t>
            </a:r>
          </a:p>
          <a:p>
            <a:pPr algn="l">
              <a:lnSpc>
                <a:spcPts val="3093"/>
              </a:lnSpc>
            </a:pPr>
          </a:p>
          <a:p>
            <a:pPr algn="l">
              <a:lnSpc>
                <a:spcPts val="3093"/>
              </a:lnSpc>
              <a:spcBef>
                <a:spcPct val="0"/>
              </a:spcBef>
            </a:pPr>
            <a:r>
              <a:rPr lang="en-US" sz="2209">
                <a:solidFill>
                  <a:srgbClr val="FFFFFF"/>
                </a:solidFill>
                <a:latin typeface="Bricolage Grotesque"/>
                <a:ea typeface="Bricolage Grotesque"/>
                <a:cs typeface="Bricolage Grotesque"/>
                <a:sym typeface="Bricolage Grotesque"/>
              </a:rPr>
              <a:t>Users can also adjust the food amount to 3 levels: Low, Medium, and High. The system displays food information and system status on an OLED screen, while LEDs show the current system status.</a:t>
            </a:r>
          </a:p>
          <a:p>
            <a:pPr algn="l">
              <a:lnSpc>
                <a:spcPts val="3093"/>
              </a:lnSpc>
              <a:spcBef>
                <a:spcPct val="0"/>
              </a:spcBef>
            </a:pPr>
          </a:p>
        </p:txBody>
      </p:sp>
      <p:sp>
        <p:nvSpPr>
          <p:cNvPr name="Freeform 7" id="7"/>
          <p:cNvSpPr/>
          <p:nvPr/>
        </p:nvSpPr>
        <p:spPr>
          <a:xfrm flipH="false" flipV="false" rot="0">
            <a:off x="-1366268" y="7548256"/>
            <a:ext cx="12953696" cy="6467166"/>
          </a:xfrm>
          <a:custGeom>
            <a:avLst/>
            <a:gdLst/>
            <a:ahLst/>
            <a:cxnLst/>
            <a:rect r="r" b="b" t="t" l="l"/>
            <a:pathLst>
              <a:path h="6467166" w="12953696">
                <a:moveTo>
                  <a:pt x="0" y="0"/>
                </a:moveTo>
                <a:lnTo>
                  <a:pt x="12953696" y="0"/>
                </a:lnTo>
                <a:lnTo>
                  <a:pt x="12953696" y="6467167"/>
                </a:lnTo>
                <a:lnTo>
                  <a:pt x="0" y="64671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374232" y="6473350"/>
            <a:ext cx="12953696" cy="6467166"/>
          </a:xfrm>
          <a:custGeom>
            <a:avLst/>
            <a:gdLst/>
            <a:ahLst/>
            <a:cxnLst/>
            <a:rect r="r" b="b" t="t" l="l"/>
            <a:pathLst>
              <a:path h="6467166" w="12953696">
                <a:moveTo>
                  <a:pt x="0" y="0"/>
                </a:moveTo>
                <a:lnTo>
                  <a:pt x="12953695" y="0"/>
                </a:lnTo>
                <a:lnTo>
                  <a:pt x="12953695" y="6467166"/>
                </a:lnTo>
                <a:lnTo>
                  <a:pt x="0" y="6467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89441" y="6473350"/>
            <a:ext cx="1668817" cy="3028140"/>
          </a:xfrm>
          <a:custGeom>
            <a:avLst/>
            <a:gdLst/>
            <a:ahLst/>
            <a:cxnLst/>
            <a:rect r="r" b="b" t="t" l="l"/>
            <a:pathLst>
              <a:path h="3028140" w="1668817">
                <a:moveTo>
                  <a:pt x="0" y="0"/>
                </a:moveTo>
                <a:lnTo>
                  <a:pt x="1668817" y="0"/>
                </a:lnTo>
                <a:lnTo>
                  <a:pt x="1668817" y="3028140"/>
                </a:lnTo>
                <a:lnTo>
                  <a:pt x="0" y="30281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133020"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true" flipV="false" rot="0">
            <a:off x="695297" y="8969016"/>
            <a:ext cx="926746" cy="897255"/>
          </a:xfrm>
          <a:custGeom>
            <a:avLst/>
            <a:gdLst/>
            <a:ahLst/>
            <a:cxnLst/>
            <a:rect r="r" b="b" t="t" l="l"/>
            <a:pathLst>
              <a:path h="897255" w="926746">
                <a:moveTo>
                  <a:pt x="926745" y="0"/>
                </a:moveTo>
                <a:lnTo>
                  <a:pt x="0" y="0"/>
                </a:lnTo>
                <a:lnTo>
                  <a:pt x="0" y="897255"/>
                </a:lnTo>
                <a:lnTo>
                  <a:pt x="926745" y="897255"/>
                </a:lnTo>
                <a:lnTo>
                  <a:pt x="92674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657225"/>
            <a:ext cx="7017108"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Project Detail</a:t>
            </a:r>
          </a:p>
        </p:txBody>
      </p:sp>
      <p:grpSp>
        <p:nvGrpSpPr>
          <p:cNvPr name="Group 7" id="7"/>
          <p:cNvGrpSpPr/>
          <p:nvPr/>
        </p:nvGrpSpPr>
        <p:grpSpPr>
          <a:xfrm rot="0">
            <a:off x="1897991" y="2579512"/>
            <a:ext cx="14492019" cy="6678788"/>
            <a:chOff x="0" y="0"/>
            <a:chExt cx="19322692" cy="8905051"/>
          </a:xfrm>
        </p:grpSpPr>
        <p:sp>
          <p:nvSpPr>
            <p:cNvPr name="TextBox 8" id="8"/>
            <p:cNvSpPr txBox="true"/>
            <p:nvPr/>
          </p:nvSpPr>
          <p:spPr>
            <a:xfrm rot="0">
              <a:off x="0" y="2808098"/>
              <a:ext cx="8277941" cy="930820"/>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Allow the user to despense food manually using a push buttom.</a:t>
              </a:r>
            </a:p>
          </p:txBody>
        </p:sp>
        <p:sp>
          <p:nvSpPr>
            <p:cNvPr name="TextBox 9" id="9"/>
            <p:cNvSpPr txBox="true"/>
            <p:nvPr/>
          </p:nvSpPr>
          <p:spPr>
            <a:xfrm rot="0">
              <a:off x="0" y="1964557"/>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Manual Feeding</a:t>
              </a:r>
            </a:p>
          </p:txBody>
        </p:sp>
        <p:sp>
          <p:nvSpPr>
            <p:cNvPr name="TextBox 10" id="10"/>
            <p:cNvSpPr txBox="true"/>
            <p:nvPr/>
          </p:nvSpPr>
          <p:spPr>
            <a:xfrm rot="0">
              <a:off x="69683" y="651603"/>
              <a:ext cx="8277941" cy="930820"/>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Dispence food automatically according to the scheduled feeding time.</a:t>
              </a:r>
            </a:p>
          </p:txBody>
        </p:sp>
        <p:sp>
          <p:nvSpPr>
            <p:cNvPr name="TextBox 11" id="11"/>
            <p:cNvSpPr txBox="true"/>
            <p:nvPr/>
          </p:nvSpPr>
          <p:spPr>
            <a:xfrm rot="0">
              <a:off x="0" y="-47625"/>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Automatic Feeding</a:t>
              </a:r>
            </a:p>
          </p:txBody>
        </p:sp>
        <p:sp>
          <p:nvSpPr>
            <p:cNvPr name="TextBox 12" id="12"/>
            <p:cNvSpPr txBox="true"/>
            <p:nvPr/>
          </p:nvSpPr>
          <p:spPr>
            <a:xfrm rot="0">
              <a:off x="69683" y="4963109"/>
              <a:ext cx="8277941" cy="1407053"/>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Allow the user to select the amount of food : Low, Medium or High.</a:t>
              </a:r>
            </a:p>
            <a:p>
              <a:pPr algn="l">
                <a:lnSpc>
                  <a:spcPts val="2863"/>
                </a:lnSpc>
              </a:pPr>
              <a:r>
                <a:rPr lang="en-US" sz="2045">
                  <a:solidFill>
                    <a:srgbClr val="FFFFFF"/>
                  </a:solidFill>
                  <a:latin typeface="Canva Sans 2"/>
                  <a:ea typeface="Canva Sans 2"/>
                  <a:cs typeface="Canva Sans 2"/>
                  <a:sym typeface="Canva Sans 2"/>
                </a:rPr>
                <a:t>        </a:t>
              </a:r>
            </a:p>
          </p:txBody>
        </p:sp>
        <p:sp>
          <p:nvSpPr>
            <p:cNvPr name="TextBox 13" id="13"/>
            <p:cNvSpPr txBox="true"/>
            <p:nvPr/>
          </p:nvSpPr>
          <p:spPr>
            <a:xfrm rot="0">
              <a:off x="0" y="4263882"/>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Food Amount Selection</a:t>
              </a:r>
            </a:p>
          </p:txBody>
        </p:sp>
        <p:sp>
          <p:nvSpPr>
            <p:cNvPr name="TextBox 14" id="14"/>
            <p:cNvSpPr txBox="true"/>
            <p:nvPr/>
          </p:nvSpPr>
          <p:spPr>
            <a:xfrm rot="0">
              <a:off x="69683" y="7021765"/>
              <a:ext cx="8277941" cy="1883286"/>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Monitor the amount of food remaining in the container</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Alert the user when the food level is </a:t>
              </a:r>
            </a:p>
            <a:p>
              <a:pPr algn="l">
                <a:lnSpc>
                  <a:spcPts val="2863"/>
                </a:lnSpc>
              </a:pPr>
              <a:r>
                <a:rPr lang="en-US" sz="2045">
                  <a:solidFill>
                    <a:srgbClr val="FFFFFF"/>
                  </a:solidFill>
                  <a:latin typeface="Canva Sans 2"/>
                  <a:ea typeface="Canva Sans 2"/>
                  <a:cs typeface="Canva Sans 2"/>
                  <a:sym typeface="Canva Sans 2"/>
                </a:rPr>
                <a:t>      low or empty</a:t>
              </a:r>
            </a:p>
          </p:txBody>
        </p:sp>
        <p:sp>
          <p:nvSpPr>
            <p:cNvPr name="TextBox 15" id="15"/>
            <p:cNvSpPr txBox="true"/>
            <p:nvPr/>
          </p:nvSpPr>
          <p:spPr>
            <a:xfrm rot="0">
              <a:off x="0" y="6322537"/>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Food Level Monitoring</a:t>
              </a:r>
            </a:p>
          </p:txBody>
        </p:sp>
        <p:sp>
          <p:nvSpPr>
            <p:cNvPr name="TextBox 16" id="16"/>
            <p:cNvSpPr txBox="true"/>
            <p:nvPr/>
          </p:nvSpPr>
          <p:spPr>
            <a:xfrm rot="0">
              <a:off x="10975068" y="4236796"/>
              <a:ext cx="8277941" cy="930820"/>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Display food level, feeding amount, feeding count, and system status on the OLED</a:t>
              </a:r>
            </a:p>
          </p:txBody>
        </p:sp>
        <p:sp>
          <p:nvSpPr>
            <p:cNvPr name="TextBox 17" id="17"/>
            <p:cNvSpPr txBox="true"/>
            <p:nvPr/>
          </p:nvSpPr>
          <p:spPr>
            <a:xfrm rot="0">
              <a:off x="10975068" y="3393256"/>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Status Display</a:t>
              </a:r>
            </a:p>
          </p:txBody>
        </p:sp>
        <p:sp>
          <p:nvSpPr>
            <p:cNvPr name="TextBox 18" id="18"/>
            <p:cNvSpPr txBox="true"/>
            <p:nvPr/>
          </p:nvSpPr>
          <p:spPr>
            <a:xfrm rot="0">
              <a:off x="11044751" y="651603"/>
              <a:ext cx="8277941" cy="2359519"/>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Detect when the pet comes to feeding area.</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Count an eating time only when the pet stays in the area for 3 seconds.</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The system counts again only after the pet leaves and return.</a:t>
              </a:r>
            </a:p>
          </p:txBody>
        </p:sp>
        <p:sp>
          <p:nvSpPr>
            <p:cNvPr name="TextBox 19" id="19"/>
            <p:cNvSpPr txBox="true"/>
            <p:nvPr/>
          </p:nvSpPr>
          <p:spPr>
            <a:xfrm rot="0">
              <a:off x="10975068" y="-47625"/>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Pet Eating Detection</a:t>
              </a:r>
            </a:p>
          </p:txBody>
        </p:sp>
        <p:sp>
          <p:nvSpPr>
            <p:cNvPr name="TextBox 20" id="20"/>
            <p:cNvSpPr txBox="true"/>
            <p:nvPr/>
          </p:nvSpPr>
          <p:spPr>
            <a:xfrm rot="0">
              <a:off x="11044751" y="6391808"/>
              <a:ext cx="8277941" cy="930820"/>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Use LED to indicate พeady, Feeding and Food Empty status.</a:t>
              </a:r>
            </a:p>
          </p:txBody>
        </p:sp>
        <p:sp>
          <p:nvSpPr>
            <p:cNvPr name="TextBox 21" id="21"/>
            <p:cNvSpPr txBox="true"/>
            <p:nvPr/>
          </p:nvSpPr>
          <p:spPr>
            <a:xfrm rot="0">
              <a:off x="10975068" y="5692580"/>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Status Indiccators</a:t>
              </a:r>
            </a:p>
          </p:txBody>
        </p:sp>
      </p:grpSp>
      <p:sp>
        <p:nvSpPr>
          <p:cNvPr name="Freeform 22" id="22"/>
          <p:cNvSpPr/>
          <p:nvPr/>
        </p:nvSpPr>
        <p:spPr>
          <a:xfrm flipH="false" flipV="false" rot="-7815649">
            <a:off x="13752876" y="-1349371"/>
            <a:ext cx="4915677" cy="3079679"/>
          </a:xfrm>
          <a:custGeom>
            <a:avLst/>
            <a:gdLst/>
            <a:ahLst/>
            <a:cxnLst/>
            <a:rect r="r" b="b" t="t" l="l"/>
            <a:pathLst>
              <a:path h="3079679" w="4915677">
                <a:moveTo>
                  <a:pt x="0" y="0"/>
                </a:moveTo>
                <a:lnTo>
                  <a:pt x="4915677" y="0"/>
                </a:lnTo>
                <a:lnTo>
                  <a:pt x="4915677" y="3079680"/>
                </a:lnTo>
                <a:lnTo>
                  <a:pt x="0" y="3079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sp>
        <p:nvSpPr>
          <p:cNvPr name="TextBox 2" id="2"/>
          <p:cNvSpPr txBox="true"/>
          <p:nvPr/>
        </p:nvSpPr>
        <p:spPr>
          <a:xfrm rot="0">
            <a:off x="1028700" y="698853"/>
            <a:ext cx="11046959"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Project Specification</a:t>
            </a:r>
          </a:p>
        </p:txBody>
      </p:sp>
      <p:grpSp>
        <p:nvGrpSpPr>
          <p:cNvPr name="Group 3" id="3"/>
          <p:cNvGrpSpPr/>
          <p:nvPr/>
        </p:nvGrpSpPr>
        <p:grpSpPr>
          <a:xfrm rot="0">
            <a:off x="3616606" y="3021048"/>
            <a:ext cx="2514833" cy="4658916"/>
            <a:chOff x="0" y="0"/>
            <a:chExt cx="3353111" cy="6211889"/>
          </a:xfrm>
        </p:grpSpPr>
        <p:sp>
          <p:nvSpPr>
            <p:cNvPr name="TextBox 4" id="4"/>
            <p:cNvSpPr txBox="true"/>
            <p:nvPr/>
          </p:nvSpPr>
          <p:spPr>
            <a:xfrm rot="0">
              <a:off x="0" y="2327080"/>
              <a:ext cx="3325121" cy="1407053"/>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Push Button</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Potentiometer</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HC-SR04</a:t>
              </a:r>
            </a:p>
          </p:txBody>
        </p:sp>
        <p:sp>
          <p:nvSpPr>
            <p:cNvPr name="TextBox 5" id="5"/>
            <p:cNvSpPr txBox="true"/>
            <p:nvPr/>
          </p:nvSpPr>
          <p:spPr>
            <a:xfrm rot="0">
              <a:off x="0" y="1483539"/>
              <a:ext cx="332512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Input Devices</a:t>
              </a:r>
            </a:p>
          </p:txBody>
        </p:sp>
        <p:sp>
          <p:nvSpPr>
            <p:cNvPr name="TextBox 6" id="6"/>
            <p:cNvSpPr txBox="true"/>
            <p:nvPr/>
          </p:nvSpPr>
          <p:spPr>
            <a:xfrm rot="0">
              <a:off x="27991" y="651603"/>
              <a:ext cx="3325121" cy="454588"/>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ESP32</a:t>
              </a:r>
            </a:p>
          </p:txBody>
        </p:sp>
        <p:sp>
          <p:nvSpPr>
            <p:cNvPr name="TextBox 7" id="7"/>
            <p:cNvSpPr txBox="true"/>
            <p:nvPr/>
          </p:nvSpPr>
          <p:spPr>
            <a:xfrm rot="0">
              <a:off x="0" y="-47625"/>
              <a:ext cx="332512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Controller</a:t>
              </a:r>
            </a:p>
          </p:txBody>
        </p:sp>
        <p:sp>
          <p:nvSpPr>
            <p:cNvPr name="TextBox 8" id="8"/>
            <p:cNvSpPr txBox="true"/>
            <p:nvPr/>
          </p:nvSpPr>
          <p:spPr>
            <a:xfrm rot="0">
              <a:off x="27991" y="4804835"/>
              <a:ext cx="3325121" cy="1407053"/>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Servo Motor</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OLED</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LED</a:t>
              </a:r>
            </a:p>
          </p:txBody>
        </p:sp>
        <p:sp>
          <p:nvSpPr>
            <p:cNvPr name="TextBox 9" id="9"/>
            <p:cNvSpPr txBox="true"/>
            <p:nvPr/>
          </p:nvSpPr>
          <p:spPr>
            <a:xfrm rot="0">
              <a:off x="0" y="4105608"/>
              <a:ext cx="332512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Output Devices</a:t>
              </a:r>
            </a:p>
          </p:txBody>
        </p:sp>
      </p:grpSp>
      <p:grpSp>
        <p:nvGrpSpPr>
          <p:cNvPr name="Group 10" id="10"/>
          <p:cNvGrpSpPr/>
          <p:nvPr/>
        </p:nvGrpSpPr>
        <p:grpSpPr>
          <a:xfrm rot="0">
            <a:off x="8344510" y="3021048"/>
            <a:ext cx="5157524" cy="2258341"/>
            <a:chOff x="0" y="0"/>
            <a:chExt cx="6876699" cy="3011121"/>
          </a:xfrm>
        </p:grpSpPr>
        <p:sp>
          <p:nvSpPr>
            <p:cNvPr name="TextBox 11" id="11"/>
            <p:cNvSpPr txBox="true"/>
            <p:nvPr/>
          </p:nvSpPr>
          <p:spPr>
            <a:xfrm rot="0">
              <a:off x="57404" y="651603"/>
              <a:ext cx="6819295" cy="2359519"/>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Food Amount : Low, Medium, High</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Feeding Time : every 10 seconds</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Pet detection Time : 3 seconds</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food Level : 100 % →  0 %</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Communication : I2C for OLED</a:t>
              </a:r>
            </a:p>
          </p:txBody>
        </p:sp>
        <p:sp>
          <p:nvSpPr>
            <p:cNvPr name="TextBox 12" id="12"/>
            <p:cNvSpPr txBox="true"/>
            <p:nvPr/>
          </p:nvSpPr>
          <p:spPr>
            <a:xfrm rot="0">
              <a:off x="0" y="-47625"/>
              <a:ext cx="6819295"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System Parameters</a:t>
              </a:r>
            </a:p>
          </p:txBody>
        </p:sp>
      </p:grpSp>
      <p:sp>
        <p:nvSpPr>
          <p:cNvPr name="Freeform 13" id="13"/>
          <p:cNvSpPr/>
          <p:nvPr/>
        </p:nvSpPr>
        <p:spPr>
          <a:xfrm flipH="false" flipV="false" rot="-1579873">
            <a:off x="13768502" y="-148228"/>
            <a:ext cx="3141000" cy="5687972"/>
          </a:xfrm>
          <a:custGeom>
            <a:avLst/>
            <a:gdLst/>
            <a:ahLst/>
            <a:cxnLst/>
            <a:rect r="r" b="b" t="t" l="l"/>
            <a:pathLst>
              <a:path h="5687972" w="3141000">
                <a:moveTo>
                  <a:pt x="0" y="0"/>
                </a:moveTo>
                <a:lnTo>
                  <a:pt x="3141000" y="0"/>
                </a:lnTo>
                <a:lnTo>
                  <a:pt x="3141000" y="5687972"/>
                </a:lnTo>
                <a:lnTo>
                  <a:pt x="0" y="56879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578116" y="5461631"/>
            <a:ext cx="4573735" cy="5369600"/>
          </a:xfrm>
          <a:custGeom>
            <a:avLst/>
            <a:gdLst/>
            <a:ahLst/>
            <a:cxnLst/>
            <a:rect r="r" b="b" t="t" l="l"/>
            <a:pathLst>
              <a:path h="5369600" w="4573735">
                <a:moveTo>
                  <a:pt x="0" y="0"/>
                </a:moveTo>
                <a:lnTo>
                  <a:pt x="4573735" y="0"/>
                </a:lnTo>
                <a:lnTo>
                  <a:pt x="4573735" y="5369601"/>
                </a:lnTo>
                <a:lnTo>
                  <a:pt x="0" y="53696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1681559" y="6746884"/>
            <a:ext cx="5420864" cy="3540116"/>
          </a:xfrm>
          <a:custGeom>
            <a:avLst/>
            <a:gdLst/>
            <a:ahLst/>
            <a:cxnLst/>
            <a:rect r="r" b="b" t="t" l="l"/>
            <a:pathLst>
              <a:path h="3540116" w="5420864">
                <a:moveTo>
                  <a:pt x="0" y="0"/>
                </a:moveTo>
                <a:lnTo>
                  <a:pt x="5420864" y="0"/>
                </a:lnTo>
                <a:lnTo>
                  <a:pt x="5420864" y="3540116"/>
                </a:lnTo>
                <a:lnTo>
                  <a:pt x="0" y="35401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209165" y="-18858"/>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56898" y="5143500"/>
            <a:ext cx="24246509" cy="7795133"/>
            <a:chOff x="0" y="0"/>
            <a:chExt cx="32328678" cy="10393511"/>
          </a:xfrm>
        </p:grpSpPr>
        <p:sp>
          <p:nvSpPr>
            <p:cNvPr name="Freeform 6" id="6"/>
            <p:cNvSpPr/>
            <p:nvPr/>
          </p:nvSpPr>
          <p:spPr>
            <a:xfrm flipH="false" flipV="false" rot="0">
              <a:off x="11510538" y="0"/>
              <a:ext cx="20818140" cy="10393511"/>
            </a:xfrm>
            <a:custGeom>
              <a:avLst/>
              <a:gdLst/>
              <a:ahLst/>
              <a:cxnLst/>
              <a:rect r="r" b="b" t="t" l="l"/>
              <a:pathLst>
                <a:path h="10393511" w="20818140">
                  <a:moveTo>
                    <a:pt x="0" y="0"/>
                  </a:moveTo>
                  <a:lnTo>
                    <a:pt x="20818140" y="0"/>
                  </a:lnTo>
                  <a:lnTo>
                    <a:pt x="20818140" y="10393511"/>
                  </a:lnTo>
                  <a:lnTo>
                    <a:pt x="0" y="103935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1455181"/>
              <a:ext cx="17271594" cy="8622889"/>
            </a:xfrm>
            <a:custGeom>
              <a:avLst/>
              <a:gdLst/>
              <a:ahLst/>
              <a:cxnLst/>
              <a:rect r="r" b="b" t="t" l="l"/>
              <a:pathLst>
                <a:path h="8622889" w="17271594">
                  <a:moveTo>
                    <a:pt x="0" y="0"/>
                  </a:moveTo>
                  <a:lnTo>
                    <a:pt x="17271594" y="0"/>
                  </a:lnTo>
                  <a:lnTo>
                    <a:pt x="17271594" y="8622889"/>
                  </a:lnTo>
                  <a:lnTo>
                    <a:pt x="0" y="86228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8" id="8"/>
          <p:cNvSpPr/>
          <p:nvPr/>
        </p:nvSpPr>
        <p:spPr>
          <a:xfrm flipH="false" flipV="false" rot="0">
            <a:off x="16424892" y="4738073"/>
            <a:ext cx="1668817" cy="3028140"/>
          </a:xfrm>
          <a:custGeom>
            <a:avLst/>
            <a:gdLst/>
            <a:ahLst/>
            <a:cxnLst/>
            <a:rect r="r" b="b" t="t" l="l"/>
            <a:pathLst>
              <a:path h="3028140" w="1668817">
                <a:moveTo>
                  <a:pt x="0" y="0"/>
                </a:moveTo>
                <a:lnTo>
                  <a:pt x="1668816" y="0"/>
                </a:lnTo>
                <a:lnTo>
                  <a:pt x="1668816" y="3028140"/>
                </a:lnTo>
                <a:lnTo>
                  <a:pt x="0" y="30281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61096" y="3662850"/>
            <a:ext cx="4677899" cy="6237199"/>
          </a:xfrm>
          <a:custGeom>
            <a:avLst/>
            <a:gdLst/>
            <a:ahLst/>
            <a:cxnLst/>
            <a:rect r="r" b="b" t="t" l="l"/>
            <a:pathLst>
              <a:path h="6237199" w="4677899">
                <a:moveTo>
                  <a:pt x="0" y="0"/>
                </a:moveTo>
                <a:lnTo>
                  <a:pt x="4677899" y="0"/>
                </a:lnTo>
                <a:lnTo>
                  <a:pt x="4677899" y="6237199"/>
                </a:lnTo>
                <a:lnTo>
                  <a:pt x="0" y="6237199"/>
                </a:lnTo>
                <a:lnTo>
                  <a:pt x="0" y="0"/>
                </a:lnTo>
                <a:close/>
              </a:path>
            </a:pathLst>
          </a:custGeom>
          <a:blipFill>
            <a:blip r:embed="rId8"/>
            <a:stretch>
              <a:fillRect l="0" t="0" r="0" b="0"/>
            </a:stretch>
          </a:blipFill>
        </p:spPr>
      </p:sp>
      <p:sp>
        <p:nvSpPr>
          <p:cNvPr name="TextBox 10" id="10"/>
          <p:cNvSpPr txBox="true"/>
          <p:nvPr/>
        </p:nvSpPr>
        <p:spPr>
          <a:xfrm rot="0">
            <a:off x="1028700" y="450215"/>
            <a:ext cx="6296979"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Project Plan</a:t>
            </a:r>
          </a:p>
        </p:txBody>
      </p:sp>
      <p:grpSp>
        <p:nvGrpSpPr>
          <p:cNvPr name="Group 11" id="11"/>
          <p:cNvGrpSpPr/>
          <p:nvPr/>
        </p:nvGrpSpPr>
        <p:grpSpPr>
          <a:xfrm rot="0">
            <a:off x="1361096" y="2156958"/>
            <a:ext cx="6260718" cy="1543992"/>
            <a:chOff x="0" y="0"/>
            <a:chExt cx="8347624" cy="2058656"/>
          </a:xfrm>
        </p:grpSpPr>
        <p:sp>
          <p:nvSpPr>
            <p:cNvPr name="TextBox 12" id="12"/>
            <p:cNvSpPr txBox="true"/>
            <p:nvPr/>
          </p:nvSpPr>
          <p:spPr>
            <a:xfrm rot="0">
              <a:off x="69683" y="651603"/>
              <a:ext cx="8277941" cy="1407053"/>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2 LED : Operating / Not Operating</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No pet detection sensor</a:t>
              </a:r>
            </a:p>
            <a:p>
              <a:pPr algn="l">
                <a:lnSpc>
                  <a:spcPts val="2863"/>
                </a:lnSpc>
              </a:pPr>
            </a:p>
          </p:txBody>
        </p:sp>
        <p:sp>
          <p:nvSpPr>
            <p:cNvPr name="TextBox 13" id="13"/>
            <p:cNvSpPr txBox="true"/>
            <p:nvPr/>
          </p:nvSpPr>
          <p:spPr>
            <a:xfrm rot="0">
              <a:off x="0" y="-47625"/>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Intitial Plan </a:t>
              </a:r>
            </a:p>
          </p:txBody>
        </p:sp>
      </p:grpSp>
      <p:grpSp>
        <p:nvGrpSpPr>
          <p:cNvPr name="Group 14" id="14"/>
          <p:cNvGrpSpPr/>
          <p:nvPr/>
        </p:nvGrpSpPr>
        <p:grpSpPr>
          <a:xfrm rot="0">
            <a:off x="9854994" y="2061708"/>
            <a:ext cx="6260718" cy="1186817"/>
            <a:chOff x="0" y="0"/>
            <a:chExt cx="8347624" cy="1582423"/>
          </a:xfrm>
        </p:grpSpPr>
        <p:sp>
          <p:nvSpPr>
            <p:cNvPr name="TextBox 15" id="15"/>
            <p:cNvSpPr txBox="true"/>
            <p:nvPr/>
          </p:nvSpPr>
          <p:spPr>
            <a:xfrm rot="0">
              <a:off x="69683" y="651603"/>
              <a:ext cx="8277941" cy="930820"/>
            </a:xfrm>
            <a:prstGeom prst="rect">
              <a:avLst/>
            </a:prstGeom>
          </p:spPr>
          <p:txBody>
            <a:bodyPr anchor="t" rtlCol="false" tIns="0" lIns="0" bIns="0" rIns="0">
              <a:spAutoFit/>
            </a:bodyPr>
            <a:lstStyle/>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3 LED : Ready, Feeding, Food Empty</a:t>
              </a:r>
            </a:p>
            <a:p>
              <a:pPr algn="l" marL="441598" indent="-220799" lvl="1">
                <a:lnSpc>
                  <a:spcPts val="2863"/>
                </a:lnSpc>
                <a:buFont typeface="Arial"/>
                <a:buChar char="•"/>
              </a:pPr>
              <a:r>
                <a:rPr lang="en-US" sz="2045">
                  <a:solidFill>
                    <a:srgbClr val="FFFFFF"/>
                  </a:solidFill>
                  <a:latin typeface="Canva Sans 2"/>
                  <a:ea typeface="Canva Sans 2"/>
                  <a:cs typeface="Canva Sans 2"/>
                  <a:sym typeface="Canva Sans 2"/>
                </a:rPr>
                <a:t>Added pet detection sensor</a:t>
              </a:r>
            </a:p>
          </p:txBody>
        </p:sp>
        <p:sp>
          <p:nvSpPr>
            <p:cNvPr name="TextBox 16" id="16"/>
            <p:cNvSpPr txBox="true"/>
            <p:nvPr/>
          </p:nvSpPr>
          <p:spPr>
            <a:xfrm rot="0">
              <a:off x="0" y="-47625"/>
              <a:ext cx="8277941" cy="529630"/>
            </a:xfrm>
            <a:prstGeom prst="rect">
              <a:avLst/>
            </a:prstGeom>
          </p:spPr>
          <p:txBody>
            <a:bodyPr anchor="t" rtlCol="false" tIns="0" lIns="0" bIns="0" rIns="0">
              <a:spAutoFit/>
            </a:bodyPr>
            <a:lstStyle/>
            <a:p>
              <a:pPr algn="l">
                <a:lnSpc>
                  <a:spcPts val="3340"/>
                </a:lnSpc>
                <a:spcBef>
                  <a:spcPct val="0"/>
                </a:spcBef>
              </a:pPr>
              <a:r>
                <a:rPr lang="en-US" b="true" sz="2386">
                  <a:solidFill>
                    <a:srgbClr val="FFFFFF"/>
                  </a:solidFill>
                  <a:latin typeface="Canva Sans 2 Medium"/>
                  <a:ea typeface="Canva Sans 2 Medium"/>
                  <a:cs typeface="Canva Sans 2 Medium"/>
                  <a:sym typeface="Canva Sans 2 Medium"/>
                </a:rPr>
                <a:t>Actual</a:t>
              </a:r>
            </a:p>
          </p:txBody>
        </p:sp>
      </p:grpSp>
      <p:grpSp>
        <p:nvGrpSpPr>
          <p:cNvPr name="Group 17" id="17"/>
          <p:cNvGrpSpPr/>
          <p:nvPr/>
        </p:nvGrpSpPr>
        <p:grpSpPr>
          <a:xfrm rot="0">
            <a:off x="10155820" y="3662850"/>
            <a:ext cx="4586772" cy="6237199"/>
            <a:chOff x="0" y="0"/>
            <a:chExt cx="779372" cy="1059807"/>
          </a:xfrm>
        </p:grpSpPr>
        <p:sp>
          <p:nvSpPr>
            <p:cNvPr name="Freeform 18" id="18"/>
            <p:cNvSpPr/>
            <p:nvPr/>
          </p:nvSpPr>
          <p:spPr>
            <a:xfrm flipH="false" flipV="false" rot="0">
              <a:off x="0" y="0"/>
              <a:ext cx="779372" cy="1059808"/>
            </a:xfrm>
            <a:custGeom>
              <a:avLst/>
              <a:gdLst/>
              <a:ahLst/>
              <a:cxnLst/>
              <a:rect r="r" b="b" t="t" l="l"/>
              <a:pathLst>
                <a:path h="1059808" w="779372">
                  <a:moveTo>
                    <a:pt x="20255" y="0"/>
                  </a:moveTo>
                  <a:lnTo>
                    <a:pt x="759117" y="0"/>
                  </a:lnTo>
                  <a:cubicBezTo>
                    <a:pt x="770303" y="0"/>
                    <a:pt x="779372" y="9068"/>
                    <a:pt x="779372" y="20255"/>
                  </a:cubicBezTo>
                  <a:lnTo>
                    <a:pt x="779372" y="1039553"/>
                  </a:lnTo>
                  <a:cubicBezTo>
                    <a:pt x="779372" y="1050739"/>
                    <a:pt x="770303" y="1059808"/>
                    <a:pt x="759117" y="1059808"/>
                  </a:cubicBezTo>
                  <a:lnTo>
                    <a:pt x="20255" y="1059808"/>
                  </a:lnTo>
                  <a:cubicBezTo>
                    <a:pt x="9068" y="1059808"/>
                    <a:pt x="0" y="1050739"/>
                    <a:pt x="0" y="1039553"/>
                  </a:cubicBezTo>
                  <a:lnTo>
                    <a:pt x="0" y="20255"/>
                  </a:lnTo>
                  <a:cubicBezTo>
                    <a:pt x="0" y="9068"/>
                    <a:pt x="9068" y="0"/>
                    <a:pt x="20255" y="0"/>
                  </a:cubicBezTo>
                  <a:close/>
                </a:path>
              </a:pathLst>
            </a:custGeom>
            <a:blipFill>
              <a:blip r:embed="rId9"/>
              <a:stretch>
                <a:fillRect l="0" t="-1666" r="0" b="-1666"/>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102705"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28700" y="7404491"/>
            <a:ext cx="3563166" cy="3505265"/>
          </a:xfrm>
          <a:custGeom>
            <a:avLst/>
            <a:gdLst/>
            <a:ahLst/>
            <a:cxnLst/>
            <a:rect r="r" b="b" t="t" l="l"/>
            <a:pathLst>
              <a:path h="3505265" w="3563166">
                <a:moveTo>
                  <a:pt x="0" y="0"/>
                </a:moveTo>
                <a:lnTo>
                  <a:pt x="3563166" y="0"/>
                </a:lnTo>
                <a:lnTo>
                  <a:pt x="3563166" y="3505265"/>
                </a:lnTo>
                <a:lnTo>
                  <a:pt x="0" y="3505265"/>
                </a:lnTo>
                <a:lnTo>
                  <a:pt x="0" y="0"/>
                </a:lnTo>
                <a:close/>
              </a:path>
            </a:pathLst>
          </a:custGeom>
          <a:blipFill>
            <a:blip r:embed="rId4"/>
            <a:stretch>
              <a:fillRect l="0" t="0" r="0" b="0"/>
            </a:stretch>
          </a:blipFill>
        </p:spPr>
      </p:sp>
      <p:grpSp>
        <p:nvGrpSpPr>
          <p:cNvPr name="Group 6" id="6"/>
          <p:cNvGrpSpPr/>
          <p:nvPr/>
        </p:nvGrpSpPr>
        <p:grpSpPr>
          <a:xfrm rot="0">
            <a:off x="3283990" y="2612478"/>
            <a:ext cx="8620927" cy="6452255"/>
            <a:chOff x="0" y="0"/>
            <a:chExt cx="11494569" cy="8603007"/>
          </a:xfrm>
        </p:grpSpPr>
        <p:grpSp>
          <p:nvGrpSpPr>
            <p:cNvPr name="Group 7" id="7"/>
            <p:cNvGrpSpPr/>
            <p:nvPr/>
          </p:nvGrpSpPr>
          <p:grpSpPr>
            <a:xfrm rot="0">
              <a:off x="0" y="0"/>
              <a:ext cx="11494569" cy="8603007"/>
              <a:chOff x="0" y="0"/>
              <a:chExt cx="2270532" cy="1699359"/>
            </a:xfrm>
          </p:grpSpPr>
          <p:sp>
            <p:nvSpPr>
              <p:cNvPr name="Freeform 8" id="8"/>
              <p:cNvSpPr/>
              <p:nvPr/>
            </p:nvSpPr>
            <p:spPr>
              <a:xfrm flipH="false" flipV="false" rot="0">
                <a:off x="0" y="0"/>
                <a:ext cx="2270532" cy="1699359"/>
              </a:xfrm>
              <a:custGeom>
                <a:avLst/>
                <a:gdLst/>
                <a:ahLst/>
                <a:cxnLst/>
                <a:rect r="r" b="b" t="t" l="l"/>
                <a:pathLst>
                  <a:path h="1699359" w="2270532">
                    <a:moveTo>
                      <a:pt x="10776" y="0"/>
                    </a:moveTo>
                    <a:lnTo>
                      <a:pt x="2259756" y="0"/>
                    </a:lnTo>
                    <a:cubicBezTo>
                      <a:pt x="2262614" y="0"/>
                      <a:pt x="2265355" y="1135"/>
                      <a:pt x="2267376" y="3156"/>
                    </a:cubicBezTo>
                    <a:cubicBezTo>
                      <a:pt x="2269397" y="5177"/>
                      <a:pt x="2270532" y="7918"/>
                      <a:pt x="2270532" y="10776"/>
                    </a:cubicBezTo>
                    <a:lnTo>
                      <a:pt x="2270532" y="1688583"/>
                    </a:lnTo>
                    <a:cubicBezTo>
                      <a:pt x="2270532" y="1694535"/>
                      <a:pt x="2265707" y="1699359"/>
                      <a:pt x="2259756" y="1699359"/>
                    </a:cubicBezTo>
                    <a:lnTo>
                      <a:pt x="10776" y="1699359"/>
                    </a:lnTo>
                    <a:cubicBezTo>
                      <a:pt x="4825" y="1699359"/>
                      <a:pt x="0" y="1694535"/>
                      <a:pt x="0" y="1688583"/>
                    </a:cubicBezTo>
                    <a:lnTo>
                      <a:pt x="0" y="10776"/>
                    </a:lnTo>
                    <a:cubicBezTo>
                      <a:pt x="0" y="4825"/>
                      <a:pt x="4825" y="0"/>
                      <a:pt x="10776" y="0"/>
                    </a:cubicBezTo>
                    <a:close/>
                  </a:path>
                </a:pathLst>
              </a:custGeom>
              <a:solidFill>
                <a:srgbClr val="FFFFFF"/>
              </a:solidFill>
            </p:spPr>
          </p:sp>
          <p:sp>
            <p:nvSpPr>
              <p:cNvPr name="TextBox 9" id="9"/>
              <p:cNvSpPr txBox="true"/>
              <p:nvPr/>
            </p:nvSpPr>
            <p:spPr>
              <a:xfrm>
                <a:off x="0" y="-47625"/>
                <a:ext cx="2270532" cy="1746984"/>
              </a:xfrm>
              <a:prstGeom prst="rect">
                <a:avLst/>
              </a:prstGeom>
            </p:spPr>
            <p:txBody>
              <a:bodyPr anchor="ctr" rtlCol="false" tIns="50800" lIns="50800" bIns="50800" rIns="50800"/>
              <a:lstStyle/>
              <a:p>
                <a:pPr algn="ctr">
                  <a:lnSpc>
                    <a:spcPts val="3340"/>
                  </a:lnSpc>
                </a:pPr>
              </a:p>
            </p:txBody>
          </p:sp>
        </p:grpSp>
        <p:sp>
          <p:nvSpPr>
            <p:cNvPr name="Freeform 10" id="10"/>
            <p:cNvSpPr/>
            <p:nvPr/>
          </p:nvSpPr>
          <p:spPr>
            <a:xfrm flipH="false" flipV="false" rot="0">
              <a:off x="285232" y="213667"/>
              <a:ext cx="10924104" cy="8153498"/>
            </a:xfrm>
            <a:custGeom>
              <a:avLst/>
              <a:gdLst/>
              <a:ahLst/>
              <a:cxnLst/>
              <a:rect r="r" b="b" t="t" l="l"/>
              <a:pathLst>
                <a:path h="8153498" w="10924104">
                  <a:moveTo>
                    <a:pt x="0" y="0"/>
                  </a:moveTo>
                  <a:lnTo>
                    <a:pt x="10924105" y="0"/>
                  </a:lnTo>
                  <a:lnTo>
                    <a:pt x="10924105" y="8153498"/>
                  </a:lnTo>
                  <a:lnTo>
                    <a:pt x="0" y="8153498"/>
                  </a:lnTo>
                  <a:lnTo>
                    <a:pt x="0" y="0"/>
                  </a:lnTo>
                  <a:close/>
                </a:path>
              </a:pathLst>
            </a:custGeom>
            <a:blipFill>
              <a:blip r:embed="rId5"/>
              <a:stretch>
                <a:fillRect l="0" t="0" r="0" b="0"/>
              </a:stretch>
            </a:blipFill>
          </p:spPr>
        </p:sp>
      </p:grpSp>
      <p:sp>
        <p:nvSpPr>
          <p:cNvPr name="TextBox 11" id="11"/>
          <p:cNvSpPr txBox="true"/>
          <p:nvPr/>
        </p:nvSpPr>
        <p:spPr>
          <a:xfrm rot="0">
            <a:off x="904875" y="752475"/>
            <a:ext cx="9103945"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Architectural design</a:t>
            </a:r>
          </a:p>
        </p:txBody>
      </p:sp>
      <p:sp>
        <p:nvSpPr>
          <p:cNvPr name="Freeform 12" id="12"/>
          <p:cNvSpPr/>
          <p:nvPr/>
        </p:nvSpPr>
        <p:spPr>
          <a:xfrm flipH="false" flipV="false" rot="0">
            <a:off x="12911670" y="5826153"/>
            <a:ext cx="4338105" cy="4213384"/>
          </a:xfrm>
          <a:custGeom>
            <a:avLst/>
            <a:gdLst/>
            <a:ahLst/>
            <a:cxnLst/>
            <a:rect r="r" b="b" t="t" l="l"/>
            <a:pathLst>
              <a:path h="4213384" w="4338105">
                <a:moveTo>
                  <a:pt x="0" y="0"/>
                </a:moveTo>
                <a:lnTo>
                  <a:pt x="4338105" y="0"/>
                </a:lnTo>
                <a:lnTo>
                  <a:pt x="4338105" y="4213384"/>
                </a:lnTo>
                <a:lnTo>
                  <a:pt x="0" y="4213384"/>
                </a:lnTo>
                <a:lnTo>
                  <a:pt x="0" y="0"/>
                </a:lnTo>
                <a:close/>
              </a:path>
            </a:pathLst>
          </a:custGeom>
          <a:blipFill>
            <a:blip r:embed="rId6"/>
            <a:stretch>
              <a:fillRect l="0" t="0" r="0" b="0"/>
            </a:stretch>
          </a:blipFill>
        </p:spPr>
      </p:sp>
      <p:sp>
        <p:nvSpPr>
          <p:cNvPr name="Freeform 13" id="13"/>
          <p:cNvSpPr/>
          <p:nvPr/>
        </p:nvSpPr>
        <p:spPr>
          <a:xfrm flipH="false" flipV="false" rot="4588645">
            <a:off x="16996839" y="6054686"/>
            <a:ext cx="429673" cy="403892"/>
          </a:xfrm>
          <a:custGeom>
            <a:avLst/>
            <a:gdLst/>
            <a:ahLst/>
            <a:cxnLst/>
            <a:rect r="r" b="b" t="t" l="l"/>
            <a:pathLst>
              <a:path h="403892" w="429673">
                <a:moveTo>
                  <a:pt x="0" y="0"/>
                </a:moveTo>
                <a:lnTo>
                  <a:pt x="429672" y="0"/>
                </a:lnTo>
                <a:lnTo>
                  <a:pt x="429672" y="403893"/>
                </a:lnTo>
                <a:lnTo>
                  <a:pt x="0" y="4038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10099504">
            <a:off x="17044464" y="9273355"/>
            <a:ext cx="429673" cy="403892"/>
          </a:xfrm>
          <a:custGeom>
            <a:avLst/>
            <a:gdLst/>
            <a:ahLst/>
            <a:cxnLst/>
            <a:rect r="r" b="b" t="t" l="l"/>
            <a:pathLst>
              <a:path h="403892" w="429673">
                <a:moveTo>
                  <a:pt x="0" y="0"/>
                </a:moveTo>
                <a:lnTo>
                  <a:pt x="429672" y="0"/>
                </a:lnTo>
                <a:lnTo>
                  <a:pt x="429672" y="403893"/>
                </a:lnTo>
                <a:lnTo>
                  <a:pt x="0" y="4038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1564013">
            <a:off x="-1772846" y="3541046"/>
            <a:ext cx="3776998" cy="3002713"/>
          </a:xfrm>
          <a:custGeom>
            <a:avLst/>
            <a:gdLst/>
            <a:ahLst/>
            <a:cxnLst/>
            <a:rect r="r" b="b" t="t" l="l"/>
            <a:pathLst>
              <a:path h="3002713" w="3776998">
                <a:moveTo>
                  <a:pt x="0" y="0"/>
                </a:moveTo>
                <a:lnTo>
                  <a:pt x="3776997" y="0"/>
                </a:lnTo>
                <a:lnTo>
                  <a:pt x="3776997" y="3002714"/>
                </a:lnTo>
                <a:lnTo>
                  <a:pt x="0" y="3002714"/>
                </a:lnTo>
                <a:lnTo>
                  <a:pt x="0" y="0"/>
                </a:lnTo>
                <a:close/>
              </a:path>
            </a:pathLst>
          </a:custGeom>
          <a:blipFill>
            <a:blip r:embed="rId9"/>
            <a:stretch>
              <a:fillRect l="0" t="0" r="0" b="0"/>
            </a:stretch>
          </a:blipFill>
        </p:spPr>
      </p:sp>
      <p:sp>
        <p:nvSpPr>
          <p:cNvPr name="Freeform 16" id="16"/>
          <p:cNvSpPr/>
          <p:nvPr/>
        </p:nvSpPr>
        <p:spPr>
          <a:xfrm flipH="true" flipV="false" rot="0">
            <a:off x="13573504" y="-1128588"/>
            <a:ext cx="5186392" cy="5827407"/>
          </a:xfrm>
          <a:custGeom>
            <a:avLst/>
            <a:gdLst/>
            <a:ahLst/>
            <a:cxnLst/>
            <a:rect r="r" b="b" t="t" l="l"/>
            <a:pathLst>
              <a:path h="5827407" w="5186392">
                <a:moveTo>
                  <a:pt x="5186391" y="0"/>
                </a:moveTo>
                <a:lnTo>
                  <a:pt x="0" y="0"/>
                </a:lnTo>
                <a:lnTo>
                  <a:pt x="0" y="5827407"/>
                </a:lnTo>
                <a:lnTo>
                  <a:pt x="5186391" y="5827407"/>
                </a:lnTo>
                <a:lnTo>
                  <a:pt x="5186391" y="0"/>
                </a:lnTo>
                <a:close/>
              </a:path>
            </a:pathLst>
          </a:custGeom>
          <a:blipFill>
            <a:blip r:embed="rId10"/>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sp>
        <p:nvSpPr>
          <p:cNvPr name="Freeform 2" id="2"/>
          <p:cNvSpPr/>
          <p:nvPr/>
        </p:nvSpPr>
        <p:spPr>
          <a:xfrm flipH="false" flipV="false" rot="0">
            <a:off x="-4104077" y="2745686"/>
            <a:ext cx="12038208" cy="12082849"/>
          </a:xfrm>
          <a:custGeom>
            <a:avLst/>
            <a:gdLst/>
            <a:ahLst/>
            <a:cxnLst/>
            <a:rect r="r" b="b" t="t" l="l"/>
            <a:pathLst>
              <a:path h="12082849" w="12038208">
                <a:moveTo>
                  <a:pt x="0" y="0"/>
                </a:moveTo>
                <a:lnTo>
                  <a:pt x="12038208" y="0"/>
                </a:lnTo>
                <a:lnTo>
                  <a:pt x="12038208" y="12082849"/>
                </a:lnTo>
                <a:lnTo>
                  <a:pt x="0" y="12082849"/>
                </a:lnTo>
                <a:lnTo>
                  <a:pt x="0" y="0"/>
                </a:lnTo>
                <a:close/>
              </a:path>
            </a:pathLst>
          </a:custGeom>
          <a:blipFill>
            <a:blip r:embed="rId2">
              <a:alphaModFix amt="1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088113" y="-3517075"/>
            <a:ext cx="12038208" cy="12082849"/>
          </a:xfrm>
          <a:custGeom>
            <a:avLst/>
            <a:gdLst/>
            <a:ahLst/>
            <a:cxnLst/>
            <a:rect r="r" b="b" t="t" l="l"/>
            <a:pathLst>
              <a:path h="12082849" w="12038208">
                <a:moveTo>
                  <a:pt x="0" y="0"/>
                </a:moveTo>
                <a:lnTo>
                  <a:pt x="12038208" y="0"/>
                </a:lnTo>
                <a:lnTo>
                  <a:pt x="12038208" y="12082849"/>
                </a:lnTo>
                <a:lnTo>
                  <a:pt x="0" y="12082849"/>
                </a:lnTo>
                <a:lnTo>
                  <a:pt x="0" y="0"/>
                </a:lnTo>
                <a:close/>
              </a:path>
            </a:pathLst>
          </a:custGeom>
          <a:blipFill>
            <a:blip r:embed="rId2">
              <a:alphaModFix amt="17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315704" y="2745686"/>
            <a:ext cx="8189742" cy="6133287"/>
          </a:xfrm>
          <a:custGeom>
            <a:avLst/>
            <a:gdLst/>
            <a:ahLst/>
            <a:cxnLst/>
            <a:rect r="r" b="b" t="t" l="l"/>
            <a:pathLst>
              <a:path h="6133287" w="8189742">
                <a:moveTo>
                  <a:pt x="0" y="0"/>
                </a:moveTo>
                <a:lnTo>
                  <a:pt x="8189742" y="0"/>
                </a:lnTo>
                <a:lnTo>
                  <a:pt x="8189742" y="6133287"/>
                </a:lnTo>
                <a:lnTo>
                  <a:pt x="0" y="6133287"/>
                </a:lnTo>
                <a:lnTo>
                  <a:pt x="0" y="0"/>
                </a:lnTo>
                <a:close/>
              </a:path>
            </a:pathLst>
          </a:custGeom>
          <a:blipFill>
            <a:blip r:embed="rId4"/>
            <a:stretch>
              <a:fillRect l="0" t="0" r="0" b="0"/>
            </a:stretch>
          </a:blipFill>
        </p:spPr>
      </p:sp>
      <p:sp>
        <p:nvSpPr>
          <p:cNvPr name="TextBox 5" id="5"/>
          <p:cNvSpPr txBox="true"/>
          <p:nvPr/>
        </p:nvSpPr>
        <p:spPr>
          <a:xfrm rot="0">
            <a:off x="1028700" y="876300"/>
            <a:ext cx="9470066" cy="1330580"/>
          </a:xfrm>
          <a:prstGeom prst="rect">
            <a:avLst/>
          </a:prstGeom>
        </p:spPr>
        <p:txBody>
          <a:bodyPr anchor="t" rtlCol="false" tIns="0" lIns="0" bIns="0" rIns="0">
            <a:spAutoFit/>
          </a:bodyPr>
          <a:lstStyle/>
          <a:p>
            <a:pPr algn="l">
              <a:lnSpc>
                <a:spcPts val="10860"/>
              </a:lnSpc>
              <a:spcBef>
                <a:spcPct val="0"/>
              </a:spcBef>
            </a:pPr>
            <a:r>
              <a:rPr lang="en-US" sz="7757" b="true">
                <a:solidFill>
                  <a:srgbClr val="FFFFFF"/>
                </a:solidFill>
                <a:latin typeface="Bricolage Grotesque Bold"/>
                <a:ea typeface="Bricolage Grotesque Bold"/>
                <a:cs typeface="Bricolage Grotesque Bold"/>
                <a:sym typeface="Bricolage Grotesque Bold"/>
              </a:rPr>
              <a:t>Hardware Selection</a:t>
            </a:r>
          </a:p>
        </p:txBody>
      </p:sp>
      <p:sp>
        <p:nvSpPr>
          <p:cNvPr name="Freeform 6" id="6"/>
          <p:cNvSpPr/>
          <p:nvPr/>
        </p:nvSpPr>
        <p:spPr>
          <a:xfrm flipH="true" flipV="false" rot="-2437048">
            <a:off x="11407344" y="927023"/>
            <a:ext cx="926746" cy="897255"/>
          </a:xfrm>
          <a:custGeom>
            <a:avLst/>
            <a:gdLst/>
            <a:ahLst/>
            <a:cxnLst/>
            <a:rect r="r" b="b" t="t" l="l"/>
            <a:pathLst>
              <a:path h="897255" w="926746">
                <a:moveTo>
                  <a:pt x="926746" y="0"/>
                </a:moveTo>
                <a:lnTo>
                  <a:pt x="0" y="0"/>
                </a:lnTo>
                <a:lnTo>
                  <a:pt x="0" y="897255"/>
                </a:lnTo>
                <a:lnTo>
                  <a:pt x="926746" y="897255"/>
                </a:lnTo>
                <a:lnTo>
                  <a:pt x="92674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312101" y="4494345"/>
            <a:ext cx="4320827" cy="5848835"/>
          </a:xfrm>
          <a:custGeom>
            <a:avLst/>
            <a:gdLst/>
            <a:ahLst/>
            <a:cxnLst/>
            <a:rect r="r" b="b" t="t" l="l"/>
            <a:pathLst>
              <a:path h="5848835" w="4320827">
                <a:moveTo>
                  <a:pt x="0" y="0"/>
                </a:moveTo>
                <a:lnTo>
                  <a:pt x="4320827" y="0"/>
                </a:lnTo>
                <a:lnTo>
                  <a:pt x="4320827" y="5848836"/>
                </a:lnTo>
                <a:lnTo>
                  <a:pt x="0" y="5848836"/>
                </a:lnTo>
                <a:lnTo>
                  <a:pt x="0" y="0"/>
                </a:lnTo>
                <a:close/>
              </a:path>
            </a:pathLst>
          </a:custGeom>
          <a:blipFill>
            <a:blip r:embed="rId7"/>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67017" y="-160293"/>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397299" y="3087362"/>
            <a:ext cx="7843337" cy="4437717"/>
            <a:chOff x="0" y="0"/>
            <a:chExt cx="1234084" cy="698238"/>
          </a:xfrm>
        </p:grpSpPr>
        <p:sp>
          <p:nvSpPr>
            <p:cNvPr name="Freeform 6" id="6"/>
            <p:cNvSpPr/>
            <p:nvPr/>
          </p:nvSpPr>
          <p:spPr>
            <a:xfrm flipH="false" flipV="false" rot="0">
              <a:off x="0" y="0"/>
              <a:ext cx="1234084" cy="698238"/>
            </a:xfrm>
            <a:custGeom>
              <a:avLst/>
              <a:gdLst/>
              <a:ahLst/>
              <a:cxnLst/>
              <a:rect r="r" b="b" t="t" l="l"/>
              <a:pathLst>
                <a:path h="698238" w="1234084">
                  <a:moveTo>
                    <a:pt x="17767" y="0"/>
                  </a:moveTo>
                  <a:lnTo>
                    <a:pt x="1216317" y="0"/>
                  </a:lnTo>
                  <a:cubicBezTo>
                    <a:pt x="1221029" y="0"/>
                    <a:pt x="1225548" y="1872"/>
                    <a:pt x="1228880" y="5204"/>
                  </a:cubicBezTo>
                  <a:cubicBezTo>
                    <a:pt x="1232212" y="8536"/>
                    <a:pt x="1234084" y="13055"/>
                    <a:pt x="1234084" y="17767"/>
                  </a:cubicBezTo>
                  <a:lnTo>
                    <a:pt x="1234084" y="680471"/>
                  </a:lnTo>
                  <a:cubicBezTo>
                    <a:pt x="1234084" y="685183"/>
                    <a:pt x="1232212" y="689702"/>
                    <a:pt x="1228880" y="693034"/>
                  </a:cubicBezTo>
                  <a:cubicBezTo>
                    <a:pt x="1225548" y="696366"/>
                    <a:pt x="1221029" y="698238"/>
                    <a:pt x="1216317" y="698238"/>
                  </a:cubicBezTo>
                  <a:lnTo>
                    <a:pt x="17767" y="698238"/>
                  </a:lnTo>
                  <a:cubicBezTo>
                    <a:pt x="13055" y="698238"/>
                    <a:pt x="8536" y="696366"/>
                    <a:pt x="5204" y="693034"/>
                  </a:cubicBezTo>
                  <a:cubicBezTo>
                    <a:pt x="1872" y="689702"/>
                    <a:pt x="0" y="685183"/>
                    <a:pt x="0" y="680471"/>
                  </a:cubicBezTo>
                  <a:lnTo>
                    <a:pt x="0" y="17767"/>
                  </a:lnTo>
                  <a:cubicBezTo>
                    <a:pt x="0" y="13055"/>
                    <a:pt x="1872" y="8536"/>
                    <a:pt x="5204" y="5204"/>
                  </a:cubicBezTo>
                  <a:cubicBezTo>
                    <a:pt x="8536" y="1872"/>
                    <a:pt x="13055" y="0"/>
                    <a:pt x="17767" y="0"/>
                  </a:cubicBezTo>
                  <a:close/>
                </a:path>
              </a:pathLst>
            </a:custGeom>
            <a:blipFill>
              <a:blip r:embed="rId4"/>
              <a:stretch>
                <a:fillRect l="0" t="-2486" r="0" b="-1636"/>
              </a:stretch>
            </a:blipFill>
          </p:spPr>
        </p:sp>
      </p:grpSp>
      <p:sp>
        <p:nvSpPr>
          <p:cNvPr name="TextBox 7" id="7"/>
          <p:cNvSpPr txBox="true"/>
          <p:nvPr/>
        </p:nvSpPr>
        <p:spPr>
          <a:xfrm rot="0">
            <a:off x="1397299" y="885825"/>
            <a:ext cx="5890285"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Detail Design</a:t>
            </a:r>
          </a:p>
        </p:txBody>
      </p:sp>
      <p:grpSp>
        <p:nvGrpSpPr>
          <p:cNvPr name="Group 8" id="8"/>
          <p:cNvGrpSpPr/>
          <p:nvPr/>
        </p:nvGrpSpPr>
        <p:grpSpPr>
          <a:xfrm rot="0">
            <a:off x="11402645" y="1188433"/>
            <a:ext cx="4860195" cy="8532169"/>
            <a:chOff x="0" y="0"/>
            <a:chExt cx="1234084" cy="2166459"/>
          </a:xfrm>
        </p:grpSpPr>
        <p:sp>
          <p:nvSpPr>
            <p:cNvPr name="Freeform 9" id="9"/>
            <p:cNvSpPr/>
            <p:nvPr/>
          </p:nvSpPr>
          <p:spPr>
            <a:xfrm flipH="false" flipV="false" rot="0">
              <a:off x="0" y="0"/>
              <a:ext cx="1234084" cy="2166459"/>
            </a:xfrm>
            <a:custGeom>
              <a:avLst/>
              <a:gdLst/>
              <a:ahLst/>
              <a:cxnLst/>
              <a:rect r="r" b="b" t="t" l="l"/>
              <a:pathLst>
                <a:path h="2166459" w="1234084">
                  <a:moveTo>
                    <a:pt x="22301" y="0"/>
                  </a:moveTo>
                  <a:lnTo>
                    <a:pt x="1211783" y="0"/>
                  </a:lnTo>
                  <a:cubicBezTo>
                    <a:pt x="1217698" y="0"/>
                    <a:pt x="1223370" y="2350"/>
                    <a:pt x="1227552" y="6532"/>
                  </a:cubicBezTo>
                  <a:cubicBezTo>
                    <a:pt x="1231735" y="10714"/>
                    <a:pt x="1234084" y="16386"/>
                    <a:pt x="1234084" y="22301"/>
                  </a:cubicBezTo>
                  <a:lnTo>
                    <a:pt x="1234084" y="2144158"/>
                  </a:lnTo>
                  <a:cubicBezTo>
                    <a:pt x="1234084" y="2150073"/>
                    <a:pt x="1231735" y="2155745"/>
                    <a:pt x="1227552" y="2159928"/>
                  </a:cubicBezTo>
                  <a:cubicBezTo>
                    <a:pt x="1223370" y="2164110"/>
                    <a:pt x="1217698" y="2166459"/>
                    <a:pt x="1211783" y="2166459"/>
                  </a:cubicBezTo>
                  <a:lnTo>
                    <a:pt x="22301" y="2166459"/>
                  </a:lnTo>
                  <a:cubicBezTo>
                    <a:pt x="9984" y="2166459"/>
                    <a:pt x="0" y="2156475"/>
                    <a:pt x="0" y="2144158"/>
                  </a:cubicBezTo>
                  <a:lnTo>
                    <a:pt x="0" y="22301"/>
                  </a:lnTo>
                  <a:cubicBezTo>
                    <a:pt x="0" y="16386"/>
                    <a:pt x="2350" y="10714"/>
                    <a:pt x="6532" y="6532"/>
                  </a:cubicBezTo>
                  <a:cubicBezTo>
                    <a:pt x="10714" y="2350"/>
                    <a:pt x="16386" y="0"/>
                    <a:pt x="22301" y="0"/>
                  </a:cubicBezTo>
                  <a:close/>
                </a:path>
              </a:pathLst>
            </a:custGeom>
            <a:blipFill>
              <a:blip r:embed="rId5"/>
              <a:stretch>
                <a:fillRect l="0" t="-531" r="0" b="-531"/>
              </a:stretch>
            </a:blipFill>
          </p:spPr>
        </p:sp>
      </p:grpSp>
      <p:sp>
        <p:nvSpPr>
          <p:cNvPr name="Freeform 10" id="10"/>
          <p:cNvSpPr/>
          <p:nvPr/>
        </p:nvSpPr>
        <p:spPr>
          <a:xfrm flipH="true" flipV="false" rot="9953182">
            <a:off x="9332415" y="7583966"/>
            <a:ext cx="1571196" cy="1505492"/>
          </a:xfrm>
          <a:custGeom>
            <a:avLst/>
            <a:gdLst/>
            <a:ahLst/>
            <a:cxnLst/>
            <a:rect r="r" b="b" t="t" l="l"/>
            <a:pathLst>
              <a:path h="1505492" w="1571196">
                <a:moveTo>
                  <a:pt x="1571196" y="0"/>
                </a:moveTo>
                <a:lnTo>
                  <a:pt x="0" y="0"/>
                </a:lnTo>
                <a:lnTo>
                  <a:pt x="0" y="1505492"/>
                </a:lnTo>
                <a:lnTo>
                  <a:pt x="1571196" y="1505492"/>
                </a:lnTo>
                <a:lnTo>
                  <a:pt x="157119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0"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302141" y="866775"/>
            <a:ext cx="6122715" cy="1456384"/>
          </a:xfrm>
          <a:prstGeom prst="rect">
            <a:avLst/>
          </a:prstGeom>
        </p:spPr>
        <p:txBody>
          <a:bodyPr anchor="t" rtlCol="false" tIns="0" lIns="0" bIns="0" rIns="0">
            <a:spAutoFit/>
          </a:bodyPr>
          <a:lstStyle/>
          <a:p>
            <a:pPr algn="l">
              <a:lnSpc>
                <a:spcPts val="11932"/>
              </a:lnSpc>
              <a:spcBef>
                <a:spcPct val="0"/>
              </a:spcBef>
            </a:pPr>
            <a:r>
              <a:rPr lang="en-US" sz="8523" b="true">
                <a:solidFill>
                  <a:srgbClr val="FFFFFF"/>
                </a:solidFill>
                <a:latin typeface="Bricolage Grotesque Bold"/>
                <a:ea typeface="Bricolage Grotesque Bold"/>
                <a:cs typeface="Bricolage Grotesque Bold"/>
                <a:sym typeface="Bricolage Grotesque Bold"/>
              </a:rPr>
              <a:t>Flowchart</a:t>
            </a:r>
          </a:p>
        </p:txBody>
      </p:sp>
      <p:sp>
        <p:nvSpPr>
          <p:cNvPr name="Freeform 6" id="6"/>
          <p:cNvSpPr/>
          <p:nvPr/>
        </p:nvSpPr>
        <p:spPr>
          <a:xfrm flipH="false" flipV="false" rot="0">
            <a:off x="8157698" y="5562102"/>
            <a:ext cx="12565457" cy="6273337"/>
          </a:xfrm>
          <a:custGeom>
            <a:avLst/>
            <a:gdLst/>
            <a:ahLst/>
            <a:cxnLst/>
            <a:rect r="r" b="b" t="t" l="l"/>
            <a:pathLst>
              <a:path h="6273337" w="12565457">
                <a:moveTo>
                  <a:pt x="0" y="0"/>
                </a:moveTo>
                <a:lnTo>
                  <a:pt x="12565457" y="0"/>
                </a:lnTo>
                <a:lnTo>
                  <a:pt x="12565457" y="6273337"/>
                </a:lnTo>
                <a:lnTo>
                  <a:pt x="0" y="6273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561070" y="4132697"/>
            <a:ext cx="14998923" cy="8201624"/>
            <a:chOff x="0" y="0"/>
            <a:chExt cx="19998564" cy="10935499"/>
          </a:xfrm>
        </p:grpSpPr>
        <p:sp>
          <p:nvSpPr>
            <p:cNvPr name="Freeform 8" id="8"/>
            <p:cNvSpPr/>
            <p:nvPr/>
          </p:nvSpPr>
          <p:spPr>
            <a:xfrm flipH="false" flipV="false" rot="0">
              <a:off x="0" y="951163"/>
              <a:ext cx="19998564" cy="9984336"/>
            </a:xfrm>
            <a:custGeom>
              <a:avLst/>
              <a:gdLst/>
              <a:ahLst/>
              <a:cxnLst/>
              <a:rect r="r" b="b" t="t" l="l"/>
              <a:pathLst>
                <a:path h="9984336" w="19998564">
                  <a:moveTo>
                    <a:pt x="0" y="0"/>
                  </a:moveTo>
                  <a:lnTo>
                    <a:pt x="19998564" y="0"/>
                  </a:lnTo>
                  <a:lnTo>
                    <a:pt x="19998564" y="9984336"/>
                  </a:lnTo>
                  <a:lnTo>
                    <a:pt x="0" y="99843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8161454" y="0"/>
              <a:ext cx="2225089" cy="4037520"/>
            </a:xfrm>
            <a:custGeom>
              <a:avLst/>
              <a:gdLst/>
              <a:ahLst/>
              <a:cxnLst/>
              <a:rect r="r" b="b" t="t" l="l"/>
              <a:pathLst>
                <a:path h="4037520" w="2225089">
                  <a:moveTo>
                    <a:pt x="2225089" y="0"/>
                  </a:moveTo>
                  <a:lnTo>
                    <a:pt x="0" y="0"/>
                  </a:lnTo>
                  <a:lnTo>
                    <a:pt x="0" y="4037520"/>
                  </a:lnTo>
                  <a:lnTo>
                    <a:pt x="2225089" y="4037520"/>
                  </a:lnTo>
                  <a:lnTo>
                    <a:pt x="2225089"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10287000" y="0"/>
            <a:ext cx="6205375" cy="10296525"/>
            <a:chOff x="0" y="0"/>
            <a:chExt cx="8273834" cy="13728700"/>
          </a:xfrm>
        </p:grpSpPr>
        <p:grpSp>
          <p:nvGrpSpPr>
            <p:cNvPr name="Group 11" id="11"/>
            <p:cNvGrpSpPr/>
            <p:nvPr/>
          </p:nvGrpSpPr>
          <p:grpSpPr>
            <a:xfrm rot="0">
              <a:off x="0" y="0"/>
              <a:ext cx="8273834" cy="13728700"/>
              <a:chOff x="0" y="0"/>
              <a:chExt cx="1634338" cy="2711842"/>
            </a:xfrm>
          </p:grpSpPr>
          <p:sp>
            <p:nvSpPr>
              <p:cNvPr name="Freeform 12" id="12"/>
              <p:cNvSpPr/>
              <p:nvPr/>
            </p:nvSpPr>
            <p:spPr>
              <a:xfrm flipH="false" flipV="false" rot="0">
                <a:off x="0" y="0"/>
                <a:ext cx="1634338" cy="2711842"/>
              </a:xfrm>
              <a:custGeom>
                <a:avLst/>
                <a:gdLst/>
                <a:ahLst/>
                <a:cxnLst/>
                <a:rect r="r" b="b" t="t" l="l"/>
                <a:pathLst>
                  <a:path h="2711842" w="1634338">
                    <a:moveTo>
                      <a:pt x="32438" y="0"/>
                    </a:moveTo>
                    <a:lnTo>
                      <a:pt x="1601900" y="0"/>
                    </a:lnTo>
                    <a:cubicBezTo>
                      <a:pt x="1619815" y="0"/>
                      <a:pt x="1634338" y="14523"/>
                      <a:pt x="1634338" y="32438"/>
                    </a:cubicBezTo>
                    <a:lnTo>
                      <a:pt x="1634338" y="2679404"/>
                    </a:lnTo>
                    <a:cubicBezTo>
                      <a:pt x="1634338" y="2697319"/>
                      <a:pt x="1619815" y="2711842"/>
                      <a:pt x="1601900" y="2711842"/>
                    </a:cubicBezTo>
                    <a:lnTo>
                      <a:pt x="32438" y="2711842"/>
                    </a:lnTo>
                    <a:cubicBezTo>
                      <a:pt x="14523" y="2711842"/>
                      <a:pt x="0" y="2697319"/>
                      <a:pt x="0" y="2679404"/>
                    </a:cubicBezTo>
                    <a:lnTo>
                      <a:pt x="0" y="32438"/>
                    </a:lnTo>
                    <a:cubicBezTo>
                      <a:pt x="0" y="14523"/>
                      <a:pt x="14523" y="0"/>
                      <a:pt x="32438" y="0"/>
                    </a:cubicBezTo>
                    <a:close/>
                  </a:path>
                </a:pathLst>
              </a:custGeom>
              <a:solidFill>
                <a:srgbClr val="FFFFFF"/>
              </a:solidFill>
            </p:spPr>
          </p:sp>
          <p:sp>
            <p:nvSpPr>
              <p:cNvPr name="TextBox 13" id="13"/>
              <p:cNvSpPr txBox="true"/>
              <p:nvPr/>
            </p:nvSpPr>
            <p:spPr>
              <a:xfrm>
                <a:off x="0" y="-47625"/>
                <a:ext cx="1634338" cy="2759467"/>
              </a:xfrm>
              <a:prstGeom prst="rect">
                <a:avLst/>
              </a:prstGeom>
            </p:spPr>
            <p:txBody>
              <a:bodyPr anchor="ctr" rtlCol="false" tIns="50800" lIns="50800" bIns="50800" rIns="50800"/>
              <a:lstStyle/>
              <a:p>
                <a:pPr algn="ctr">
                  <a:lnSpc>
                    <a:spcPts val="3340"/>
                  </a:lnSpc>
                </a:pPr>
              </a:p>
            </p:txBody>
          </p:sp>
        </p:grpSp>
        <p:sp>
          <p:nvSpPr>
            <p:cNvPr name="Freeform 14" id="14"/>
            <p:cNvSpPr/>
            <p:nvPr/>
          </p:nvSpPr>
          <p:spPr>
            <a:xfrm flipH="false" flipV="false" rot="0">
              <a:off x="235429" y="179476"/>
              <a:ext cx="7758742" cy="13369747"/>
            </a:xfrm>
            <a:custGeom>
              <a:avLst/>
              <a:gdLst/>
              <a:ahLst/>
              <a:cxnLst/>
              <a:rect r="r" b="b" t="t" l="l"/>
              <a:pathLst>
                <a:path h="13369747" w="7758742">
                  <a:moveTo>
                    <a:pt x="0" y="0"/>
                  </a:moveTo>
                  <a:lnTo>
                    <a:pt x="7758742" y="0"/>
                  </a:lnTo>
                  <a:lnTo>
                    <a:pt x="7758742" y="13369748"/>
                  </a:lnTo>
                  <a:lnTo>
                    <a:pt x="0" y="13369748"/>
                  </a:lnTo>
                  <a:lnTo>
                    <a:pt x="0" y="0"/>
                  </a:lnTo>
                  <a:close/>
                </a:path>
              </a:pathLst>
            </a:custGeom>
            <a:blipFill>
              <a:blip r:embed="rId8"/>
              <a:stretch>
                <a:fillRect l="-46" t="0" r="-46"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0"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true" flipV="false" rot="4161597">
            <a:off x="12207714" y="-827850"/>
            <a:ext cx="3287577" cy="5656046"/>
          </a:xfrm>
          <a:custGeom>
            <a:avLst/>
            <a:gdLst/>
            <a:ahLst/>
            <a:cxnLst/>
            <a:rect r="r" b="b" t="t" l="l"/>
            <a:pathLst>
              <a:path h="5656046" w="3287577">
                <a:moveTo>
                  <a:pt x="3287577" y="0"/>
                </a:moveTo>
                <a:lnTo>
                  <a:pt x="0" y="0"/>
                </a:lnTo>
                <a:lnTo>
                  <a:pt x="0" y="5656046"/>
                </a:lnTo>
                <a:lnTo>
                  <a:pt x="3287577" y="5656046"/>
                </a:lnTo>
                <a:lnTo>
                  <a:pt x="328757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4161597">
            <a:off x="3512793" y="6014328"/>
            <a:ext cx="3287577" cy="5656046"/>
          </a:xfrm>
          <a:custGeom>
            <a:avLst/>
            <a:gdLst/>
            <a:ahLst/>
            <a:cxnLst/>
            <a:rect r="r" b="b" t="t" l="l"/>
            <a:pathLst>
              <a:path h="5656046" w="3287577">
                <a:moveTo>
                  <a:pt x="3287577" y="0"/>
                </a:moveTo>
                <a:lnTo>
                  <a:pt x="0" y="0"/>
                </a:lnTo>
                <a:lnTo>
                  <a:pt x="0" y="5656046"/>
                </a:lnTo>
                <a:lnTo>
                  <a:pt x="3287577" y="5656046"/>
                </a:lnTo>
                <a:lnTo>
                  <a:pt x="328757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77043" y="2686919"/>
            <a:ext cx="3880388" cy="7237603"/>
          </a:xfrm>
          <a:custGeom>
            <a:avLst/>
            <a:gdLst/>
            <a:ahLst/>
            <a:cxnLst/>
            <a:rect r="r" b="b" t="t" l="l"/>
            <a:pathLst>
              <a:path h="7237603" w="3880388">
                <a:moveTo>
                  <a:pt x="0" y="0"/>
                </a:moveTo>
                <a:lnTo>
                  <a:pt x="3880388" y="0"/>
                </a:lnTo>
                <a:lnTo>
                  <a:pt x="3880388" y="7237603"/>
                </a:lnTo>
                <a:lnTo>
                  <a:pt x="0" y="7237603"/>
                </a:lnTo>
                <a:lnTo>
                  <a:pt x="0" y="0"/>
                </a:lnTo>
                <a:close/>
              </a:path>
            </a:pathLst>
          </a:custGeom>
          <a:blipFill>
            <a:blip r:embed="rId6"/>
            <a:stretch>
              <a:fillRect l="0" t="-1681" r="-5755" b="-3646"/>
            </a:stretch>
          </a:blipFill>
        </p:spPr>
      </p:sp>
      <p:sp>
        <p:nvSpPr>
          <p:cNvPr name="Freeform 8" id="8"/>
          <p:cNvSpPr/>
          <p:nvPr/>
        </p:nvSpPr>
        <p:spPr>
          <a:xfrm flipH="false" flipV="false" rot="0">
            <a:off x="13421957" y="2686919"/>
            <a:ext cx="3402202" cy="7237603"/>
          </a:xfrm>
          <a:custGeom>
            <a:avLst/>
            <a:gdLst/>
            <a:ahLst/>
            <a:cxnLst/>
            <a:rect r="r" b="b" t="t" l="l"/>
            <a:pathLst>
              <a:path h="7237603" w="3402202">
                <a:moveTo>
                  <a:pt x="0" y="0"/>
                </a:moveTo>
                <a:lnTo>
                  <a:pt x="3402201" y="0"/>
                </a:lnTo>
                <a:lnTo>
                  <a:pt x="3402201" y="7237603"/>
                </a:lnTo>
                <a:lnTo>
                  <a:pt x="0" y="7237603"/>
                </a:lnTo>
                <a:lnTo>
                  <a:pt x="0" y="0"/>
                </a:lnTo>
                <a:close/>
              </a:path>
            </a:pathLst>
          </a:custGeom>
          <a:blipFill>
            <a:blip r:embed="rId7"/>
            <a:stretch>
              <a:fillRect l="0" t="0" r="0" b="0"/>
            </a:stretch>
          </a:blipFill>
        </p:spPr>
      </p:sp>
      <p:sp>
        <p:nvSpPr>
          <p:cNvPr name="Freeform 9" id="9"/>
          <p:cNvSpPr/>
          <p:nvPr/>
        </p:nvSpPr>
        <p:spPr>
          <a:xfrm flipH="false" flipV="false" rot="0">
            <a:off x="6962811" y="2686919"/>
            <a:ext cx="3938641" cy="7237603"/>
          </a:xfrm>
          <a:custGeom>
            <a:avLst/>
            <a:gdLst/>
            <a:ahLst/>
            <a:cxnLst/>
            <a:rect r="r" b="b" t="t" l="l"/>
            <a:pathLst>
              <a:path h="7237603" w="3938641">
                <a:moveTo>
                  <a:pt x="0" y="0"/>
                </a:moveTo>
                <a:lnTo>
                  <a:pt x="3938641" y="0"/>
                </a:lnTo>
                <a:lnTo>
                  <a:pt x="3938641" y="7237603"/>
                </a:lnTo>
                <a:lnTo>
                  <a:pt x="0" y="7237603"/>
                </a:lnTo>
                <a:lnTo>
                  <a:pt x="0" y="0"/>
                </a:lnTo>
                <a:close/>
              </a:path>
            </a:pathLst>
          </a:custGeom>
          <a:blipFill>
            <a:blip r:embed="rId8"/>
            <a:stretch>
              <a:fillRect l="0" t="-1257" r="-3081" b="-2095"/>
            </a:stretch>
          </a:blipFill>
        </p:spPr>
      </p:sp>
      <p:sp>
        <p:nvSpPr>
          <p:cNvPr name="TextBox 10" id="10"/>
          <p:cNvSpPr txBox="true"/>
          <p:nvPr/>
        </p:nvSpPr>
        <p:spPr>
          <a:xfrm rot="0">
            <a:off x="1211665" y="150171"/>
            <a:ext cx="3011143" cy="1456384"/>
          </a:xfrm>
          <a:prstGeom prst="rect">
            <a:avLst/>
          </a:prstGeom>
        </p:spPr>
        <p:txBody>
          <a:bodyPr anchor="t" rtlCol="false" tIns="0" lIns="0" bIns="0" rIns="0">
            <a:spAutoFit/>
          </a:bodyPr>
          <a:lstStyle/>
          <a:p>
            <a:pPr algn="l">
              <a:lnSpc>
                <a:spcPts val="11932"/>
              </a:lnSpc>
              <a:spcBef>
                <a:spcPct val="0"/>
              </a:spcBef>
            </a:pPr>
            <a:r>
              <a:rPr lang="en-US" sz="8523" b="true">
                <a:solidFill>
                  <a:srgbClr val="FFFFFF"/>
                </a:solidFill>
                <a:latin typeface="Bricolage Grotesque Bold"/>
                <a:ea typeface="Bricolage Grotesque Bold"/>
                <a:cs typeface="Bricolage Grotesque Bold"/>
                <a:sym typeface="Bricolage Grotesque Bold"/>
              </a:rPr>
              <a:t>Code</a:t>
            </a:r>
          </a:p>
        </p:txBody>
      </p:sp>
      <p:sp>
        <p:nvSpPr>
          <p:cNvPr name="TextBox 11" id="11"/>
          <p:cNvSpPr txBox="true"/>
          <p:nvPr/>
        </p:nvSpPr>
        <p:spPr>
          <a:xfrm rot="0">
            <a:off x="1211665" y="1785226"/>
            <a:ext cx="2956322"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Bricolage Grotesque Bold"/>
                <a:ea typeface="Bricolage Grotesque Bold"/>
                <a:cs typeface="Bricolage Grotesque Bold"/>
                <a:sym typeface="Bricolage Grotesque Bold"/>
              </a:rPr>
              <a:t>3 Levels Food Amount</a:t>
            </a:r>
          </a:p>
        </p:txBody>
      </p:sp>
      <p:sp>
        <p:nvSpPr>
          <p:cNvPr name="TextBox 12" id="12"/>
          <p:cNvSpPr txBox="true"/>
          <p:nvPr/>
        </p:nvSpPr>
        <p:spPr>
          <a:xfrm rot="0">
            <a:off x="7238691" y="1785226"/>
            <a:ext cx="3386882"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Bricolage Grotesque Bold"/>
                <a:ea typeface="Bricolage Grotesque Bold"/>
                <a:cs typeface="Bricolage Grotesque Bold"/>
                <a:sym typeface="Bricolage Grotesque Bold"/>
              </a:rPr>
              <a:t>Food Level Measurement</a:t>
            </a:r>
          </a:p>
        </p:txBody>
      </p:sp>
      <p:sp>
        <p:nvSpPr>
          <p:cNvPr name="TextBox 13" id="13"/>
          <p:cNvSpPr txBox="true"/>
          <p:nvPr/>
        </p:nvSpPr>
        <p:spPr>
          <a:xfrm rot="0">
            <a:off x="12153192" y="1785226"/>
            <a:ext cx="5939730"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Bricolage Grotesque Bold"/>
                <a:ea typeface="Bricolage Grotesque Bold"/>
                <a:cs typeface="Bricolage Grotesque Bold"/>
                <a:sym typeface="Bricolage Grotesque Bold"/>
              </a:rPr>
              <a:t>Automatic feeding system every 10 seconds</a:t>
            </a:r>
          </a:p>
        </p:txBody>
      </p:sp>
      <p:sp>
        <p:nvSpPr>
          <p:cNvPr name="Freeform 14" id="14"/>
          <p:cNvSpPr/>
          <p:nvPr/>
        </p:nvSpPr>
        <p:spPr>
          <a:xfrm flipH="true" flipV="false" rot="0">
            <a:off x="4797351" y="510697"/>
            <a:ext cx="926746" cy="897255"/>
          </a:xfrm>
          <a:custGeom>
            <a:avLst/>
            <a:gdLst/>
            <a:ahLst/>
            <a:cxnLst/>
            <a:rect r="r" b="b" t="t" l="l"/>
            <a:pathLst>
              <a:path h="897255" w="926746">
                <a:moveTo>
                  <a:pt x="926746" y="0"/>
                </a:moveTo>
                <a:lnTo>
                  <a:pt x="0" y="0"/>
                </a:lnTo>
                <a:lnTo>
                  <a:pt x="0" y="897255"/>
                </a:lnTo>
                <a:lnTo>
                  <a:pt x="926746" y="897255"/>
                </a:lnTo>
                <a:lnTo>
                  <a:pt x="92674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sp>
        <p:nvSpPr>
          <p:cNvPr name="Freeform 2" id="2"/>
          <p:cNvSpPr/>
          <p:nvPr/>
        </p:nvSpPr>
        <p:spPr>
          <a:xfrm flipH="false" flipV="false" rot="0">
            <a:off x="-2632401" y="-4341355"/>
            <a:ext cx="12038208" cy="12082849"/>
          </a:xfrm>
          <a:custGeom>
            <a:avLst/>
            <a:gdLst/>
            <a:ahLst/>
            <a:cxnLst/>
            <a:rect r="r" b="b" t="t" l="l"/>
            <a:pathLst>
              <a:path h="12082849" w="12038208">
                <a:moveTo>
                  <a:pt x="0" y="0"/>
                </a:moveTo>
                <a:lnTo>
                  <a:pt x="12038207" y="0"/>
                </a:lnTo>
                <a:lnTo>
                  <a:pt x="12038207" y="12082849"/>
                </a:lnTo>
                <a:lnTo>
                  <a:pt x="0" y="12082849"/>
                </a:lnTo>
                <a:lnTo>
                  <a:pt x="0" y="0"/>
                </a:lnTo>
                <a:close/>
              </a:path>
            </a:pathLst>
          </a:custGeom>
          <a:blipFill>
            <a:blip r:embed="rId2">
              <a:alphaModFix amt="1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217832" y="2441937"/>
            <a:ext cx="12038208" cy="12082849"/>
          </a:xfrm>
          <a:custGeom>
            <a:avLst/>
            <a:gdLst/>
            <a:ahLst/>
            <a:cxnLst/>
            <a:rect r="r" b="b" t="t" l="l"/>
            <a:pathLst>
              <a:path h="12082849" w="12038208">
                <a:moveTo>
                  <a:pt x="0" y="0"/>
                </a:moveTo>
                <a:lnTo>
                  <a:pt x="12038208" y="0"/>
                </a:lnTo>
                <a:lnTo>
                  <a:pt x="12038208" y="12082849"/>
                </a:lnTo>
                <a:lnTo>
                  <a:pt x="0" y="12082849"/>
                </a:lnTo>
                <a:lnTo>
                  <a:pt x="0" y="0"/>
                </a:lnTo>
                <a:close/>
              </a:path>
            </a:pathLst>
          </a:custGeom>
          <a:blipFill>
            <a:blip r:embed="rId2">
              <a:alphaModFix amt="17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64425" y="2698100"/>
            <a:ext cx="2999450" cy="6560200"/>
          </a:xfrm>
          <a:custGeom>
            <a:avLst/>
            <a:gdLst/>
            <a:ahLst/>
            <a:cxnLst/>
            <a:rect r="r" b="b" t="t" l="l"/>
            <a:pathLst>
              <a:path h="6560200" w="2999450">
                <a:moveTo>
                  <a:pt x="0" y="0"/>
                </a:moveTo>
                <a:lnTo>
                  <a:pt x="2999450" y="0"/>
                </a:lnTo>
                <a:lnTo>
                  <a:pt x="2999450" y="6560200"/>
                </a:lnTo>
                <a:lnTo>
                  <a:pt x="0" y="6560200"/>
                </a:lnTo>
                <a:lnTo>
                  <a:pt x="0" y="0"/>
                </a:lnTo>
                <a:close/>
              </a:path>
            </a:pathLst>
          </a:custGeom>
          <a:blipFill>
            <a:blip r:embed="rId4"/>
            <a:stretch>
              <a:fillRect l="0" t="0" r="0" b="0"/>
            </a:stretch>
          </a:blipFill>
        </p:spPr>
      </p:sp>
      <p:sp>
        <p:nvSpPr>
          <p:cNvPr name="Freeform 5" id="5"/>
          <p:cNvSpPr/>
          <p:nvPr/>
        </p:nvSpPr>
        <p:spPr>
          <a:xfrm flipH="false" flipV="false" rot="0">
            <a:off x="7457621" y="2698100"/>
            <a:ext cx="3372758" cy="6560200"/>
          </a:xfrm>
          <a:custGeom>
            <a:avLst/>
            <a:gdLst/>
            <a:ahLst/>
            <a:cxnLst/>
            <a:rect r="r" b="b" t="t" l="l"/>
            <a:pathLst>
              <a:path h="6560200" w="3372758">
                <a:moveTo>
                  <a:pt x="0" y="0"/>
                </a:moveTo>
                <a:lnTo>
                  <a:pt x="3372758" y="0"/>
                </a:lnTo>
                <a:lnTo>
                  <a:pt x="3372758" y="6560200"/>
                </a:lnTo>
                <a:lnTo>
                  <a:pt x="0" y="6560200"/>
                </a:lnTo>
                <a:lnTo>
                  <a:pt x="0" y="0"/>
                </a:lnTo>
                <a:close/>
              </a:path>
            </a:pathLst>
          </a:custGeom>
          <a:blipFill>
            <a:blip r:embed="rId5"/>
            <a:stretch>
              <a:fillRect l="0" t="0" r="0" b="0"/>
            </a:stretch>
          </a:blipFill>
        </p:spPr>
      </p:sp>
      <p:sp>
        <p:nvSpPr>
          <p:cNvPr name="Freeform 6" id="6"/>
          <p:cNvSpPr/>
          <p:nvPr/>
        </p:nvSpPr>
        <p:spPr>
          <a:xfrm flipH="false" flipV="false" rot="0">
            <a:off x="13579005" y="2698100"/>
            <a:ext cx="3005231" cy="6560200"/>
          </a:xfrm>
          <a:custGeom>
            <a:avLst/>
            <a:gdLst/>
            <a:ahLst/>
            <a:cxnLst/>
            <a:rect r="r" b="b" t="t" l="l"/>
            <a:pathLst>
              <a:path h="6560200" w="3005231">
                <a:moveTo>
                  <a:pt x="0" y="0"/>
                </a:moveTo>
                <a:lnTo>
                  <a:pt x="3005231" y="0"/>
                </a:lnTo>
                <a:lnTo>
                  <a:pt x="3005231" y="6560200"/>
                </a:lnTo>
                <a:lnTo>
                  <a:pt x="0" y="6560200"/>
                </a:lnTo>
                <a:lnTo>
                  <a:pt x="0" y="0"/>
                </a:lnTo>
                <a:close/>
              </a:path>
            </a:pathLst>
          </a:custGeom>
          <a:blipFill>
            <a:blip r:embed="rId6"/>
            <a:stretch>
              <a:fillRect l="0" t="0" r="0" b="0"/>
            </a:stretch>
          </a:blipFill>
        </p:spPr>
      </p:sp>
      <p:sp>
        <p:nvSpPr>
          <p:cNvPr name="Freeform 7" id="7"/>
          <p:cNvSpPr/>
          <p:nvPr/>
        </p:nvSpPr>
        <p:spPr>
          <a:xfrm flipH="true" flipV="false" rot="0">
            <a:off x="16754648" y="538392"/>
            <a:ext cx="693436" cy="671370"/>
          </a:xfrm>
          <a:custGeom>
            <a:avLst/>
            <a:gdLst/>
            <a:ahLst/>
            <a:cxnLst/>
            <a:rect r="r" b="b" t="t" l="l"/>
            <a:pathLst>
              <a:path h="671370" w="693436">
                <a:moveTo>
                  <a:pt x="693436" y="0"/>
                </a:moveTo>
                <a:lnTo>
                  <a:pt x="0" y="0"/>
                </a:lnTo>
                <a:lnTo>
                  <a:pt x="0" y="671369"/>
                </a:lnTo>
                <a:lnTo>
                  <a:pt x="693436" y="671369"/>
                </a:lnTo>
                <a:lnTo>
                  <a:pt x="69343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977832" y="1785226"/>
            <a:ext cx="1423988"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Bricolage Grotesque Bold"/>
                <a:ea typeface="Bricolage Grotesque Bold"/>
                <a:cs typeface="Bricolage Grotesque Bold"/>
                <a:sym typeface="Bricolage Grotesque Bold"/>
              </a:rPr>
              <a:t> ReadyLED</a:t>
            </a:r>
          </a:p>
        </p:txBody>
      </p:sp>
      <p:sp>
        <p:nvSpPr>
          <p:cNvPr name="TextBox 9" id="9"/>
          <p:cNvSpPr txBox="true"/>
          <p:nvPr/>
        </p:nvSpPr>
        <p:spPr>
          <a:xfrm rot="0">
            <a:off x="8351565" y="1785226"/>
            <a:ext cx="1584871"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Bricolage Grotesque Bold"/>
                <a:ea typeface="Bricolage Grotesque Bold"/>
                <a:cs typeface="Bricolage Grotesque Bold"/>
                <a:sym typeface="Bricolage Grotesque Bold"/>
              </a:rPr>
              <a:t>FeedingLED</a:t>
            </a:r>
          </a:p>
        </p:txBody>
      </p:sp>
      <p:sp>
        <p:nvSpPr>
          <p:cNvPr name="TextBox 10" id="10"/>
          <p:cNvSpPr txBox="true"/>
          <p:nvPr/>
        </p:nvSpPr>
        <p:spPr>
          <a:xfrm rot="0">
            <a:off x="14272975" y="1785226"/>
            <a:ext cx="1389906"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Bricolage Grotesque Bold"/>
                <a:ea typeface="Bricolage Grotesque Bold"/>
                <a:cs typeface="Bricolage Grotesque Bold"/>
                <a:sym typeface="Bricolage Grotesque Bold"/>
              </a:rPr>
              <a:t>EmptyLED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0"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true" flipV="false" rot="4161597">
            <a:off x="3512793" y="6014328"/>
            <a:ext cx="3287577" cy="5656046"/>
          </a:xfrm>
          <a:custGeom>
            <a:avLst/>
            <a:gdLst/>
            <a:ahLst/>
            <a:cxnLst/>
            <a:rect r="r" b="b" t="t" l="l"/>
            <a:pathLst>
              <a:path h="5656046" w="3287577">
                <a:moveTo>
                  <a:pt x="3287577" y="0"/>
                </a:moveTo>
                <a:lnTo>
                  <a:pt x="0" y="0"/>
                </a:lnTo>
                <a:lnTo>
                  <a:pt x="0" y="5656046"/>
                </a:lnTo>
                <a:lnTo>
                  <a:pt x="3287577" y="5656046"/>
                </a:lnTo>
                <a:lnTo>
                  <a:pt x="328757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69182" y="2672837"/>
            <a:ext cx="4586732" cy="6799019"/>
          </a:xfrm>
          <a:custGeom>
            <a:avLst/>
            <a:gdLst/>
            <a:ahLst/>
            <a:cxnLst/>
            <a:rect r="r" b="b" t="t" l="l"/>
            <a:pathLst>
              <a:path h="6799019" w="4586732">
                <a:moveTo>
                  <a:pt x="0" y="0"/>
                </a:moveTo>
                <a:lnTo>
                  <a:pt x="4586731" y="0"/>
                </a:lnTo>
                <a:lnTo>
                  <a:pt x="4586731" y="6799019"/>
                </a:lnTo>
                <a:lnTo>
                  <a:pt x="0" y="6799019"/>
                </a:lnTo>
                <a:lnTo>
                  <a:pt x="0" y="0"/>
                </a:lnTo>
                <a:close/>
              </a:path>
            </a:pathLst>
          </a:custGeom>
          <a:blipFill>
            <a:blip r:embed="rId6"/>
            <a:stretch>
              <a:fillRect l="0" t="0" r="0" b="0"/>
            </a:stretch>
          </a:blipFill>
        </p:spPr>
      </p:sp>
      <p:sp>
        <p:nvSpPr>
          <p:cNvPr name="Freeform 7" id="7"/>
          <p:cNvSpPr/>
          <p:nvPr/>
        </p:nvSpPr>
        <p:spPr>
          <a:xfrm flipH="false" flipV="false" rot="0">
            <a:off x="12327656" y="2240261"/>
            <a:ext cx="4776147" cy="7231595"/>
          </a:xfrm>
          <a:custGeom>
            <a:avLst/>
            <a:gdLst/>
            <a:ahLst/>
            <a:cxnLst/>
            <a:rect r="r" b="b" t="t" l="l"/>
            <a:pathLst>
              <a:path h="7231595" w="4776147">
                <a:moveTo>
                  <a:pt x="0" y="0"/>
                </a:moveTo>
                <a:lnTo>
                  <a:pt x="4776147" y="0"/>
                </a:lnTo>
                <a:lnTo>
                  <a:pt x="4776147" y="7231595"/>
                </a:lnTo>
                <a:lnTo>
                  <a:pt x="0" y="7231595"/>
                </a:lnTo>
                <a:lnTo>
                  <a:pt x="0" y="0"/>
                </a:lnTo>
                <a:close/>
              </a:path>
            </a:pathLst>
          </a:custGeom>
          <a:blipFill>
            <a:blip r:embed="rId7"/>
            <a:stretch>
              <a:fillRect l="0" t="0" r="0" b="0"/>
            </a:stretch>
          </a:blipFill>
        </p:spPr>
      </p:sp>
      <p:sp>
        <p:nvSpPr>
          <p:cNvPr name="Freeform 8" id="8"/>
          <p:cNvSpPr/>
          <p:nvPr/>
        </p:nvSpPr>
        <p:spPr>
          <a:xfrm flipH="false" flipV="false" rot="0">
            <a:off x="7365432" y="2226073"/>
            <a:ext cx="2767191" cy="7245783"/>
          </a:xfrm>
          <a:custGeom>
            <a:avLst/>
            <a:gdLst/>
            <a:ahLst/>
            <a:cxnLst/>
            <a:rect r="r" b="b" t="t" l="l"/>
            <a:pathLst>
              <a:path h="7245783" w="2767191">
                <a:moveTo>
                  <a:pt x="0" y="0"/>
                </a:moveTo>
                <a:lnTo>
                  <a:pt x="2767191" y="0"/>
                </a:lnTo>
                <a:lnTo>
                  <a:pt x="2767191" y="7245783"/>
                </a:lnTo>
                <a:lnTo>
                  <a:pt x="0" y="7245783"/>
                </a:lnTo>
                <a:lnTo>
                  <a:pt x="0" y="0"/>
                </a:lnTo>
                <a:close/>
              </a:path>
            </a:pathLst>
          </a:custGeom>
          <a:blipFill>
            <a:blip r:embed="rId8"/>
            <a:stretch>
              <a:fillRect l="0" t="0" r="0" b="0"/>
            </a:stretch>
          </a:blipFill>
        </p:spPr>
      </p:sp>
      <p:sp>
        <p:nvSpPr>
          <p:cNvPr name="Freeform 9" id="9"/>
          <p:cNvSpPr/>
          <p:nvPr/>
        </p:nvSpPr>
        <p:spPr>
          <a:xfrm flipH="true" flipV="false" rot="0">
            <a:off x="15848551" y="1028700"/>
            <a:ext cx="669274" cy="647977"/>
          </a:xfrm>
          <a:custGeom>
            <a:avLst/>
            <a:gdLst/>
            <a:ahLst/>
            <a:cxnLst/>
            <a:rect r="r" b="b" t="t" l="l"/>
            <a:pathLst>
              <a:path h="647977" w="669274">
                <a:moveTo>
                  <a:pt x="669274" y="0"/>
                </a:moveTo>
                <a:lnTo>
                  <a:pt x="0" y="0"/>
                </a:lnTo>
                <a:lnTo>
                  <a:pt x="0" y="647977"/>
                </a:lnTo>
                <a:lnTo>
                  <a:pt x="669274" y="647977"/>
                </a:lnTo>
                <a:lnTo>
                  <a:pt x="66927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930650" y="1738085"/>
            <a:ext cx="2919264"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Bricolage Grotesque Bold"/>
                <a:ea typeface="Bricolage Grotesque Bold"/>
                <a:cs typeface="Bricolage Grotesque Bold"/>
                <a:sym typeface="Bricolage Grotesque Bold"/>
              </a:rPr>
              <a:t>Pet Detection System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76446"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28700" y="885825"/>
            <a:ext cx="9031855"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Testing and Results</a:t>
            </a:r>
          </a:p>
        </p:txBody>
      </p:sp>
      <p:grpSp>
        <p:nvGrpSpPr>
          <p:cNvPr name="Group 6" id="6"/>
          <p:cNvGrpSpPr/>
          <p:nvPr/>
        </p:nvGrpSpPr>
        <p:grpSpPr>
          <a:xfrm rot="0">
            <a:off x="1988167" y="3059654"/>
            <a:ext cx="5705716" cy="2644168"/>
            <a:chOff x="0" y="0"/>
            <a:chExt cx="7607621" cy="3525558"/>
          </a:xfrm>
        </p:grpSpPr>
        <p:sp>
          <p:nvSpPr>
            <p:cNvPr name="TextBox 7" id="7"/>
            <p:cNvSpPr txBox="true"/>
            <p:nvPr/>
          </p:nvSpPr>
          <p:spPr>
            <a:xfrm rot="0">
              <a:off x="55411" y="651603"/>
              <a:ext cx="7552210" cy="2873955"/>
            </a:xfrm>
            <a:prstGeom prst="rect">
              <a:avLst/>
            </a:prstGeom>
          </p:spPr>
          <p:txBody>
            <a:bodyPr anchor="t" rtlCol="false" tIns="0" lIns="0" bIns="0" rIns="0">
              <a:spAutoFit/>
            </a:bodyPr>
            <a:lstStyle/>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Automatic food dispensing test</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Manual feeding using the push button</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Food amount adjustment test (3 levels)</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Food level detection test</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Pet detection test</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OLED and LED status display test</a:t>
              </a:r>
            </a:p>
          </p:txBody>
        </p:sp>
        <p:sp>
          <p:nvSpPr>
            <p:cNvPr name="TextBox 8" id="8"/>
            <p:cNvSpPr txBox="true"/>
            <p:nvPr/>
          </p:nvSpPr>
          <p:spPr>
            <a:xfrm rot="0">
              <a:off x="0" y="-47625"/>
              <a:ext cx="6582551" cy="529630"/>
            </a:xfrm>
            <a:prstGeom prst="rect">
              <a:avLst/>
            </a:prstGeom>
          </p:spPr>
          <p:txBody>
            <a:bodyPr anchor="t" rtlCol="false" tIns="0" lIns="0" bIns="0" rIns="0">
              <a:spAutoFit/>
            </a:bodyPr>
            <a:lstStyle/>
            <a:p>
              <a:pPr algn="l">
                <a:lnSpc>
                  <a:spcPts val="3340"/>
                </a:lnSpc>
                <a:spcBef>
                  <a:spcPct val="0"/>
                </a:spcBef>
              </a:pPr>
              <a:r>
                <a:rPr lang="en-US" sz="2386">
                  <a:solidFill>
                    <a:srgbClr val="FFFFFF"/>
                  </a:solidFill>
                  <a:latin typeface="Canva Sans 2"/>
                  <a:ea typeface="Canva Sans 2"/>
                  <a:cs typeface="Canva Sans 2"/>
                  <a:sym typeface="Canva Sans 2"/>
                </a:rPr>
                <a:t>Testing</a:t>
              </a:r>
            </a:p>
          </p:txBody>
        </p:sp>
      </p:grpSp>
      <p:grpSp>
        <p:nvGrpSpPr>
          <p:cNvPr name="Group 9" id="9"/>
          <p:cNvGrpSpPr/>
          <p:nvPr/>
        </p:nvGrpSpPr>
        <p:grpSpPr>
          <a:xfrm rot="0">
            <a:off x="10356773" y="3059654"/>
            <a:ext cx="5571750" cy="3368068"/>
            <a:chOff x="0" y="0"/>
            <a:chExt cx="7429000" cy="4490758"/>
          </a:xfrm>
        </p:grpSpPr>
        <p:sp>
          <p:nvSpPr>
            <p:cNvPr name="TextBox 10" id="10"/>
            <p:cNvSpPr txBox="true"/>
            <p:nvPr/>
          </p:nvSpPr>
          <p:spPr>
            <a:xfrm rot="0">
              <a:off x="55411" y="651603"/>
              <a:ext cx="7373589" cy="3839155"/>
            </a:xfrm>
            <a:prstGeom prst="rect">
              <a:avLst/>
            </a:prstGeom>
          </p:spPr>
          <p:txBody>
            <a:bodyPr anchor="t" rtlCol="false" tIns="0" lIns="0" bIns="0" rIns="0">
              <a:spAutoFit/>
            </a:bodyPr>
            <a:lstStyle/>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Food was dispensed successfully.</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Food was dispensed manually using the push button.</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Food amount was adjusted successfully to 3 levels.</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Food level was detected successfully.</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Pet was detected successfully.</a:t>
              </a:r>
            </a:p>
            <a:p>
              <a:pPr algn="l" marL="441597" indent="-220799" lvl="1">
                <a:lnSpc>
                  <a:spcPts val="2863"/>
                </a:lnSpc>
                <a:buFont typeface="Arial"/>
                <a:buChar char="•"/>
              </a:pPr>
              <a:r>
                <a:rPr lang="en-US" sz="2045">
                  <a:solidFill>
                    <a:srgbClr val="FFFFFF"/>
                  </a:solidFill>
                  <a:latin typeface="Canva Sans 2"/>
                  <a:ea typeface="Canva Sans 2"/>
                  <a:cs typeface="Canva Sans 2"/>
                  <a:sym typeface="Canva Sans 2"/>
                </a:rPr>
                <a:t>OLED  and LED displayed system status</a:t>
              </a:r>
            </a:p>
          </p:txBody>
        </p:sp>
        <p:sp>
          <p:nvSpPr>
            <p:cNvPr name="TextBox 11" id="11"/>
            <p:cNvSpPr txBox="true"/>
            <p:nvPr/>
          </p:nvSpPr>
          <p:spPr>
            <a:xfrm rot="0">
              <a:off x="0" y="-47625"/>
              <a:ext cx="6582551" cy="529630"/>
            </a:xfrm>
            <a:prstGeom prst="rect">
              <a:avLst/>
            </a:prstGeom>
          </p:spPr>
          <p:txBody>
            <a:bodyPr anchor="t" rtlCol="false" tIns="0" lIns="0" bIns="0" rIns="0">
              <a:spAutoFit/>
            </a:bodyPr>
            <a:lstStyle/>
            <a:p>
              <a:pPr algn="l">
                <a:lnSpc>
                  <a:spcPts val="3340"/>
                </a:lnSpc>
                <a:spcBef>
                  <a:spcPct val="0"/>
                </a:spcBef>
              </a:pPr>
              <a:r>
                <a:rPr lang="en-US" sz="2386">
                  <a:solidFill>
                    <a:srgbClr val="FFFFFF"/>
                  </a:solidFill>
                  <a:latin typeface="Canva Sans 2"/>
                  <a:ea typeface="Canva Sans 2"/>
                  <a:cs typeface="Canva Sans 2"/>
                  <a:sym typeface="Canva Sans 2"/>
                </a:rPr>
                <a:t>Results</a:t>
              </a:r>
            </a:p>
          </p:txBody>
        </p:sp>
      </p:grpSp>
      <p:sp>
        <p:nvSpPr>
          <p:cNvPr name="Freeform 12" id="12"/>
          <p:cNvSpPr/>
          <p:nvPr/>
        </p:nvSpPr>
        <p:spPr>
          <a:xfrm flipH="false" flipV="false" rot="0">
            <a:off x="8575931" y="6593681"/>
            <a:ext cx="13599290" cy="6789481"/>
          </a:xfrm>
          <a:custGeom>
            <a:avLst/>
            <a:gdLst/>
            <a:ahLst/>
            <a:cxnLst/>
            <a:rect r="r" b="b" t="t" l="l"/>
            <a:pathLst>
              <a:path h="6789481" w="13599290">
                <a:moveTo>
                  <a:pt x="0" y="0"/>
                </a:moveTo>
                <a:lnTo>
                  <a:pt x="13599291" y="0"/>
                </a:lnTo>
                <a:lnTo>
                  <a:pt x="13599291" y="6789482"/>
                </a:lnTo>
                <a:lnTo>
                  <a:pt x="0" y="6789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32473" y="6641306"/>
            <a:ext cx="11743026" cy="5862737"/>
          </a:xfrm>
          <a:custGeom>
            <a:avLst/>
            <a:gdLst/>
            <a:ahLst/>
            <a:cxnLst/>
            <a:rect r="r" b="b" t="t" l="l"/>
            <a:pathLst>
              <a:path h="5862737" w="11743026">
                <a:moveTo>
                  <a:pt x="0" y="0"/>
                </a:moveTo>
                <a:lnTo>
                  <a:pt x="11743027" y="0"/>
                </a:lnTo>
                <a:lnTo>
                  <a:pt x="11743027" y="5862737"/>
                </a:lnTo>
                <a:lnTo>
                  <a:pt x="0" y="58627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3243723" y="6036121"/>
            <a:ext cx="2381816" cy="1492212"/>
          </a:xfrm>
          <a:custGeom>
            <a:avLst/>
            <a:gdLst/>
            <a:ahLst/>
            <a:cxnLst/>
            <a:rect r="r" b="b" t="t" l="l"/>
            <a:pathLst>
              <a:path h="1492212" w="2381816">
                <a:moveTo>
                  <a:pt x="0" y="0"/>
                </a:moveTo>
                <a:lnTo>
                  <a:pt x="2381816" y="0"/>
                </a:lnTo>
                <a:lnTo>
                  <a:pt x="2381816" y="1492212"/>
                </a:lnTo>
                <a:lnTo>
                  <a:pt x="0" y="14922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76446"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true" flipV="false" rot="0">
            <a:off x="7743977" y="531036"/>
            <a:ext cx="3385756" cy="3278015"/>
          </a:xfrm>
          <a:custGeom>
            <a:avLst/>
            <a:gdLst/>
            <a:ahLst/>
            <a:cxnLst/>
            <a:rect r="r" b="b" t="t" l="l"/>
            <a:pathLst>
              <a:path h="3278015" w="3385756">
                <a:moveTo>
                  <a:pt x="3385756" y="0"/>
                </a:moveTo>
                <a:lnTo>
                  <a:pt x="0" y="0"/>
                </a:lnTo>
                <a:lnTo>
                  <a:pt x="0" y="3278015"/>
                </a:lnTo>
                <a:lnTo>
                  <a:pt x="3385756" y="3278015"/>
                </a:lnTo>
                <a:lnTo>
                  <a:pt x="33857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409820" y="552503"/>
            <a:ext cx="6752344" cy="9181993"/>
            <a:chOff x="0" y="0"/>
            <a:chExt cx="779372" cy="1059807"/>
          </a:xfrm>
        </p:grpSpPr>
        <p:sp>
          <p:nvSpPr>
            <p:cNvPr name="Freeform 7" id="7"/>
            <p:cNvSpPr/>
            <p:nvPr/>
          </p:nvSpPr>
          <p:spPr>
            <a:xfrm flipH="false" flipV="false" rot="0">
              <a:off x="0" y="0"/>
              <a:ext cx="779372" cy="1059808"/>
            </a:xfrm>
            <a:custGeom>
              <a:avLst/>
              <a:gdLst/>
              <a:ahLst/>
              <a:cxnLst/>
              <a:rect r="r" b="b" t="t" l="l"/>
              <a:pathLst>
                <a:path h="1059808" w="779372">
                  <a:moveTo>
                    <a:pt x="51595" y="0"/>
                  </a:moveTo>
                  <a:lnTo>
                    <a:pt x="727777" y="0"/>
                  </a:lnTo>
                  <a:cubicBezTo>
                    <a:pt x="756272" y="0"/>
                    <a:pt x="779372" y="23100"/>
                    <a:pt x="779372" y="51595"/>
                  </a:cubicBezTo>
                  <a:lnTo>
                    <a:pt x="779372" y="1008213"/>
                  </a:lnTo>
                  <a:cubicBezTo>
                    <a:pt x="779372" y="1021896"/>
                    <a:pt x="773936" y="1035020"/>
                    <a:pt x="764260" y="1044696"/>
                  </a:cubicBezTo>
                  <a:cubicBezTo>
                    <a:pt x="754584" y="1054372"/>
                    <a:pt x="741461" y="1059808"/>
                    <a:pt x="727777" y="1059808"/>
                  </a:cubicBezTo>
                  <a:lnTo>
                    <a:pt x="51595" y="1059808"/>
                  </a:lnTo>
                  <a:cubicBezTo>
                    <a:pt x="37911" y="1059808"/>
                    <a:pt x="24788" y="1054372"/>
                    <a:pt x="15112" y="1044696"/>
                  </a:cubicBezTo>
                  <a:cubicBezTo>
                    <a:pt x="5436" y="1035020"/>
                    <a:pt x="0" y="1021896"/>
                    <a:pt x="0" y="1008213"/>
                  </a:cubicBezTo>
                  <a:lnTo>
                    <a:pt x="0" y="51595"/>
                  </a:lnTo>
                  <a:cubicBezTo>
                    <a:pt x="0" y="37911"/>
                    <a:pt x="5436" y="24788"/>
                    <a:pt x="15112" y="15112"/>
                  </a:cubicBezTo>
                  <a:cubicBezTo>
                    <a:pt x="24788" y="5436"/>
                    <a:pt x="37911" y="0"/>
                    <a:pt x="51595" y="0"/>
                  </a:cubicBezTo>
                  <a:close/>
                </a:path>
              </a:pathLst>
            </a:custGeom>
            <a:blipFill>
              <a:blip r:embed="rId6"/>
              <a:stretch>
                <a:fillRect l="0" t="-1666" r="0" b="-1666"/>
              </a:stretch>
            </a:blipFill>
          </p:spPr>
        </p:sp>
      </p:grpSp>
      <p:sp>
        <p:nvSpPr>
          <p:cNvPr name="Freeform 8" id="8"/>
          <p:cNvSpPr/>
          <p:nvPr/>
        </p:nvSpPr>
        <p:spPr>
          <a:xfrm flipH="true" flipV="false" rot="0">
            <a:off x="1056012" y="8361045"/>
            <a:ext cx="926746" cy="897255"/>
          </a:xfrm>
          <a:custGeom>
            <a:avLst/>
            <a:gdLst/>
            <a:ahLst/>
            <a:cxnLst/>
            <a:rect r="r" b="b" t="t" l="l"/>
            <a:pathLst>
              <a:path h="897255" w="926746">
                <a:moveTo>
                  <a:pt x="926746" y="0"/>
                </a:moveTo>
                <a:lnTo>
                  <a:pt x="0" y="0"/>
                </a:lnTo>
                <a:lnTo>
                  <a:pt x="0" y="897255"/>
                </a:lnTo>
                <a:lnTo>
                  <a:pt x="926746" y="897255"/>
                </a:lnTo>
                <a:lnTo>
                  <a:pt x="92674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056012" y="710565"/>
            <a:ext cx="2273918"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Final</a:t>
            </a:r>
          </a:p>
        </p:txBody>
      </p:sp>
      <p:sp>
        <p:nvSpPr>
          <p:cNvPr name="TextBox 10" id="10"/>
          <p:cNvSpPr txBox="true"/>
          <p:nvPr/>
        </p:nvSpPr>
        <p:spPr>
          <a:xfrm rot="0">
            <a:off x="1028700" y="2550481"/>
            <a:ext cx="6886175" cy="1553845"/>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Bricolage Grotesque"/>
                <a:ea typeface="Bricolage Grotesque"/>
                <a:cs typeface="Bricolage Grotesque"/>
                <a:sym typeface="Bricolage Grotesque"/>
              </a:rPr>
              <a:t>  Th</a:t>
            </a:r>
            <a:r>
              <a:rPr lang="en-US" sz="2199">
                <a:solidFill>
                  <a:srgbClr val="FFFFFF"/>
                </a:solidFill>
                <a:latin typeface="Bricolage Grotesque"/>
                <a:ea typeface="Bricolage Grotesque"/>
                <a:cs typeface="Bricolage Grotesque"/>
                <a:sym typeface="Bricolage Grotesque"/>
              </a:rPr>
              <a:t>e Smart Pet Feeder can automatically dispense food, adjust the food amount, monitor the food level, detect pets, and display the system status through the OLED and LED indicators.</a:t>
            </a:r>
          </a:p>
        </p:txBody>
      </p:sp>
      <p:sp>
        <p:nvSpPr>
          <p:cNvPr name="Freeform 11" id="11"/>
          <p:cNvSpPr/>
          <p:nvPr/>
        </p:nvSpPr>
        <p:spPr>
          <a:xfrm flipH="false" flipV="false" rot="0">
            <a:off x="2380080" y="5084324"/>
            <a:ext cx="4665097" cy="5393176"/>
          </a:xfrm>
          <a:custGeom>
            <a:avLst/>
            <a:gdLst/>
            <a:ahLst/>
            <a:cxnLst/>
            <a:rect r="r" b="b" t="t" l="l"/>
            <a:pathLst>
              <a:path h="5393176" w="4665097">
                <a:moveTo>
                  <a:pt x="0" y="0"/>
                </a:moveTo>
                <a:lnTo>
                  <a:pt x="4665098" y="0"/>
                </a:lnTo>
                <a:lnTo>
                  <a:pt x="4665098" y="5393176"/>
                </a:lnTo>
                <a:lnTo>
                  <a:pt x="0" y="5393176"/>
                </a:lnTo>
                <a:lnTo>
                  <a:pt x="0" y="0"/>
                </a:lnTo>
                <a:close/>
              </a:path>
            </a:pathLst>
          </a:custGeom>
          <a:blipFill>
            <a:blip r:embed="rId9"/>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0"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6827670" y="1028700"/>
            <a:ext cx="431630" cy="342900"/>
            <a:chOff x="0" y="0"/>
            <a:chExt cx="575507" cy="457200"/>
          </a:xfrm>
        </p:grpSpPr>
        <p:sp>
          <p:nvSpPr>
            <p:cNvPr name="AutoShape 6" id="6"/>
            <p:cNvSpPr/>
            <p:nvPr/>
          </p:nvSpPr>
          <p:spPr>
            <a:xfrm>
              <a:off x="0" y="25400"/>
              <a:ext cx="575507" cy="0"/>
            </a:xfrm>
            <a:prstGeom prst="line">
              <a:avLst/>
            </a:prstGeom>
            <a:ln cap="flat" w="50800">
              <a:solidFill>
                <a:srgbClr val="FFFFFF"/>
              </a:solidFill>
              <a:prstDash val="solid"/>
              <a:headEnd type="none" len="sm" w="sm"/>
              <a:tailEnd type="none" len="sm" w="sm"/>
            </a:ln>
          </p:spPr>
        </p:sp>
        <p:sp>
          <p:nvSpPr>
            <p:cNvPr name="AutoShape 7" id="7"/>
            <p:cNvSpPr/>
            <p:nvPr/>
          </p:nvSpPr>
          <p:spPr>
            <a:xfrm>
              <a:off x="0" y="228600"/>
              <a:ext cx="575507" cy="0"/>
            </a:xfrm>
            <a:prstGeom prst="line">
              <a:avLst/>
            </a:prstGeom>
            <a:ln cap="flat" w="50800">
              <a:solidFill>
                <a:srgbClr val="FFFFFF"/>
              </a:solidFill>
              <a:prstDash val="solid"/>
              <a:headEnd type="none" len="sm" w="sm"/>
              <a:tailEnd type="none" len="sm" w="sm"/>
            </a:ln>
          </p:spPr>
        </p:sp>
        <p:sp>
          <p:nvSpPr>
            <p:cNvPr name="AutoShape 8" id="8"/>
            <p:cNvSpPr/>
            <p:nvPr/>
          </p:nvSpPr>
          <p:spPr>
            <a:xfrm>
              <a:off x="0" y="431800"/>
              <a:ext cx="575507" cy="0"/>
            </a:xfrm>
            <a:prstGeom prst="line">
              <a:avLst/>
            </a:prstGeom>
            <a:ln cap="flat" w="50800">
              <a:solidFill>
                <a:srgbClr val="FFFFFF"/>
              </a:solidFill>
              <a:prstDash val="solid"/>
              <a:headEnd type="none" len="sm" w="sm"/>
              <a:tailEnd type="none" len="sm" w="sm"/>
            </a:ln>
          </p:spPr>
        </p:sp>
      </p:grpSp>
      <p:sp>
        <p:nvSpPr>
          <p:cNvPr name="Freeform 9" id="9"/>
          <p:cNvSpPr/>
          <p:nvPr/>
        </p:nvSpPr>
        <p:spPr>
          <a:xfrm flipH="true" flipV="false" rot="0">
            <a:off x="7451122" y="531036"/>
            <a:ext cx="3385756" cy="3278015"/>
          </a:xfrm>
          <a:custGeom>
            <a:avLst/>
            <a:gdLst/>
            <a:ahLst/>
            <a:cxnLst/>
            <a:rect r="r" b="b" t="t" l="l"/>
            <a:pathLst>
              <a:path h="3278015" w="3385756">
                <a:moveTo>
                  <a:pt x="3385756" y="0"/>
                </a:moveTo>
                <a:lnTo>
                  <a:pt x="0" y="0"/>
                </a:lnTo>
                <a:lnTo>
                  <a:pt x="0" y="3278015"/>
                </a:lnTo>
                <a:lnTo>
                  <a:pt x="3385756" y="3278015"/>
                </a:lnTo>
                <a:lnTo>
                  <a:pt x="33857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782150" y="1228725"/>
            <a:ext cx="5865349" cy="1236345"/>
          </a:xfrm>
          <a:prstGeom prst="rect">
            <a:avLst/>
          </a:prstGeom>
        </p:spPr>
        <p:txBody>
          <a:bodyPr anchor="t" rtlCol="false" tIns="0" lIns="0" bIns="0" rIns="0">
            <a:spAutoFit/>
          </a:bodyPr>
          <a:lstStyle/>
          <a:p>
            <a:pPr algn="l">
              <a:lnSpc>
                <a:spcPts val="10080"/>
              </a:lnSpc>
              <a:spcBef>
                <a:spcPct val="0"/>
              </a:spcBef>
            </a:pPr>
            <a:r>
              <a:rPr lang="en-US" sz="7200" b="true">
                <a:solidFill>
                  <a:srgbClr val="FFFFFF"/>
                </a:solidFill>
                <a:latin typeface="Bricolage Grotesque Bold"/>
                <a:ea typeface="Bricolage Grotesque Bold"/>
                <a:cs typeface="Bricolage Grotesque Bold"/>
                <a:sym typeface="Bricolage Grotesque Bold"/>
              </a:rPr>
              <a:t>Link to VDO</a:t>
            </a:r>
          </a:p>
        </p:txBody>
      </p:sp>
      <p:sp>
        <p:nvSpPr>
          <p:cNvPr name="TextBox 11" id="11"/>
          <p:cNvSpPr txBox="true"/>
          <p:nvPr/>
        </p:nvSpPr>
        <p:spPr>
          <a:xfrm rot="0">
            <a:off x="2356290" y="3492821"/>
            <a:ext cx="15376933" cy="316230"/>
          </a:xfrm>
          <a:prstGeom prst="rect">
            <a:avLst/>
          </a:prstGeom>
        </p:spPr>
        <p:txBody>
          <a:bodyPr anchor="t" rtlCol="false" tIns="0" lIns="0" bIns="0" rIns="0">
            <a:spAutoFit/>
          </a:bodyPr>
          <a:lstStyle/>
          <a:p>
            <a:pPr algn="l">
              <a:lnSpc>
                <a:spcPts val="2520"/>
              </a:lnSpc>
              <a:spcBef>
                <a:spcPct val="0"/>
              </a:spcBef>
            </a:pPr>
            <a:r>
              <a:rPr lang="en-US" sz="1800" u="sng">
                <a:solidFill>
                  <a:srgbClr val="FFFFFF"/>
                </a:solidFill>
                <a:latin typeface="Bricolage Grotesque"/>
                <a:ea typeface="Bricolage Grotesque"/>
                <a:cs typeface="Bricolage Grotesque"/>
                <a:sym typeface="Bricolage Grotesque"/>
                <a:hlinkClick r:id="rId6" tooltip="https://drive.google.com/file/d/1R_8i3zUqNFg2drO3YBUSq5LHSIOIitvf/view?usp=drivesdk"/>
              </a:rPr>
              <a:t>Secure toxic substances, cords, plants, and small objects; use gates, ID tags, microchips, leashes, and constant supervision outdoors.</a:t>
            </a:r>
          </a:p>
        </p:txBody>
      </p:sp>
      <p:sp>
        <p:nvSpPr>
          <p:cNvPr name="Freeform 12" id="12"/>
          <p:cNvSpPr/>
          <p:nvPr/>
        </p:nvSpPr>
        <p:spPr>
          <a:xfrm flipH="false" flipV="false" rot="0">
            <a:off x="11514980" y="7859336"/>
            <a:ext cx="3385756" cy="3278015"/>
          </a:xfrm>
          <a:custGeom>
            <a:avLst/>
            <a:gdLst/>
            <a:ahLst/>
            <a:cxnLst/>
            <a:rect r="r" b="b" t="t" l="l"/>
            <a:pathLst>
              <a:path h="3278015" w="3385756">
                <a:moveTo>
                  <a:pt x="0" y="0"/>
                </a:moveTo>
                <a:lnTo>
                  <a:pt x="3385755" y="0"/>
                </a:lnTo>
                <a:lnTo>
                  <a:pt x="3385755" y="3278014"/>
                </a:lnTo>
                <a:lnTo>
                  <a:pt x="0" y="32780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false" rot="0">
            <a:off x="16332554" y="8361045"/>
            <a:ext cx="926746" cy="897255"/>
          </a:xfrm>
          <a:custGeom>
            <a:avLst/>
            <a:gdLst/>
            <a:ahLst/>
            <a:cxnLst/>
            <a:rect r="r" b="b" t="t" l="l"/>
            <a:pathLst>
              <a:path h="897255" w="926746">
                <a:moveTo>
                  <a:pt x="926746" y="0"/>
                </a:moveTo>
                <a:lnTo>
                  <a:pt x="0" y="0"/>
                </a:lnTo>
                <a:lnTo>
                  <a:pt x="0" y="897255"/>
                </a:lnTo>
                <a:lnTo>
                  <a:pt x="926746" y="897255"/>
                </a:lnTo>
                <a:lnTo>
                  <a:pt x="92674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208452" y="-12700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28700" y="895350"/>
            <a:ext cx="10659647" cy="1201637"/>
          </a:xfrm>
          <a:prstGeom prst="rect">
            <a:avLst/>
          </a:prstGeom>
        </p:spPr>
        <p:txBody>
          <a:bodyPr anchor="t" rtlCol="false" tIns="0" lIns="0" bIns="0" rIns="0">
            <a:spAutoFit/>
          </a:bodyPr>
          <a:lstStyle/>
          <a:p>
            <a:pPr algn="l">
              <a:lnSpc>
                <a:spcPts val="9893"/>
              </a:lnSpc>
              <a:spcBef>
                <a:spcPct val="0"/>
              </a:spcBef>
            </a:pPr>
            <a:r>
              <a:rPr lang="en-US" sz="7066" b="true">
                <a:solidFill>
                  <a:srgbClr val="FFFFFF"/>
                </a:solidFill>
                <a:latin typeface="Bricolage Grotesque Bold"/>
                <a:ea typeface="Bricolage Grotesque Bold"/>
                <a:cs typeface="Bricolage Grotesque Bold"/>
                <a:sym typeface="Bricolage Grotesque Bold"/>
              </a:rPr>
              <a:t>Problems and solutions</a:t>
            </a:r>
          </a:p>
        </p:txBody>
      </p:sp>
      <p:sp>
        <p:nvSpPr>
          <p:cNvPr name="TextBox 6" id="6"/>
          <p:cNvSpPr txBox="true"/>
          <p:nvPr/>
        </p:nvSpPr>
        <p:spPr>
          <a:xfrm rot="0">
            <a:off x="1636988" y="3568810"/>
            <a:ext cx="15115662" cy="1162168"/>
          </a:xfrm>
          <a:prstGeom prst="rect">
            <a:avLst/>
          </a:prstGeom>
        </p:spPr>
        <p:txBody>
          <a:bodyPr anchor="t" rtlCol="false" tIns="0" lIns="0" bIns="0" rIns="0">
            <a:spAutoFit/>
          </a:bodyPr>
          <a:lstStyle/>
          <a:p>
            <a:pPr algn="l">
              <a:lnSpc>
                <a:spcPts val="3143"/>
              </a:lnSpc>
            </a:pPr>
            <a:r>
              <a:rPr lang="en-US" sz="2245">
                <a:solidFill>
                  <a:srgbClr val="FFFFFF"/>
                </a:solidFill>
                <a:latin typeface="Canva Sans 2"/>
                <a:ea typeface="Canva Sans 2"/>
                <a:cs typeface="Canva Sans 2"/>
                <a:sym typeface="Canva Sans 2"/>
              </a:rPr>
              <a:t>Problem : The ultrasonic sensor detected the food container instead of the food when placed on the side.</a:t>
            </a:r>
          </a:p>
          <a:p>
            <a:pPr algn="l">
              <a:lnSpc>
                <a:spcPts val="3143"/>
              </a:lnSpc>
            </a:pPr>
            <a:r>
              <a:rPr lang="en-US" sz="2245">
                <a:solidFill>
                  <a:srgbClr val="FFFFFF"/>
                </a:solidFill>
                <a:latin typeface="Canva Sans 2"/>
                <a:ea typeface="Canva Sans 2"/>
                <a:cs typeface="Canva Sans 2"/>
                <a:sym typeface="Canva Sans 2"/>
              </a:rPr>
              <a:t>Solution : Moved the ultrasonic sensor to the top of the smart pet feeder so that it could check the food                                     level directly.</a:t>
            </a:r>
          </a:p>
        </p:txBody>
      </p:sp>
      <p:sp>
        <p:nvSpPr>
          <p:cNvPr name="TextBox 7" id="7"/>
          <p:cNvSpPr txBox="true"/>
          <p:nvPr/>
        </p:nvSpPr>
        <p:spPr>
          <a:xfrm rot="0">
            <a:off x="1535350" y="3044389"/>
            <a:ext cx="12073970" cy="409129"/>
          </a:xfrm>
          <a:prstGeom prst="rect">
            <a:avLst/>
          </a:prstGeom>
        </p:spPr>
        <p:txBody>
          <a:bodyPr anchor="t" rtlCol="false" tIns="0" lIns="0" bIns="0" rIns="0">
            <a:spAutoFit/>
          </a:bodyPr>
          <a:lstStyle/>
          <a:p>
            <a:pPr algn="l" marL="515197" indent="-257599" lvl="1">
              <a:lnSpc>
                <a:spcPts val="3340"/>
              </a:lnSpc>
              <a:spcBef>
                <a:spcPct val="0"/>
              </a:spcBef>
              <a:buAutoNum type="arabicPeriod" startAt="1"/>
            </a:pPr>
            <a:r>
              <a:rPr lang="en-US" b="true" sz="2386">
                <a:solidFill>
                  <a:srgbClr val="FFFFFF"/>
                </a:solidFill>
                <a:latin typeface="Canva Sans 2 Medium"/>
                <a:ea typeface="Canva Sans 2 Medium"/>
                <a:cs typeface="Canva Sans 2 Medium"/>
                <a:sym typeface="Canva Sans 2 Medium"/>
              </a:rPr>
              <a:t>Ultrasonic Sensor</a:t>
            </a:r>
          </a:p>
        </p:txBody>
      </p:sp>
      <p:sp>
        <p:nvSpPr>
          <p:cNvPr name="TextBox 8" id="8"/>
          <p:cNvSpPr txBox="true"/>
          <p:nvPr/>
        </p:nvSpPr>
        <p:spPr>
          <a:xfrm rot="0">
            <a:off x="1636988" y="5515189"/>
            <a:ext cx="15115662" cy="771643"/>
          </a:xfrm>
          <a:prstGeom prst="rect">
            <a:avLst/>
          </a:prstGeom>
        </p:spPr>
        <p:txBody>
          <a:bodyPr anchor="t" rtlCol="false" tIns="0" lIns="0" bIns="0" rIns="0">
            <a:spAutoFit/>
          </a:bodyPr>
          <a:lstStyle/>
          <a:p>
            <a:pPr algn="l">
              <a:lnSpc>
                <a:spcPts val="3143"/>
              </a:lnSpc>
            </a:pPr>
            <a:r>
              <a:rPr lang="en-US" sz="2245">
                <a:solidFill>
                  <a:srgbClr val="FFFFFF"/>
                </a:solidFill>
                <a:latin typeface="Canva Sans 2"/>
                <a:ea typeface="Canva Sans 2"/>
                <a:cs typeface="Canva Sans 2"/>
                <a:sym typeface="Canva Sans 2"/>
              </a:rPr>
              <a:t>Problem : The servo motor worked normally at first, but later it sometimes worked and sometimes did not.</a:t>
            </a:r>
          </a:p>
          <a:p>
            <a:pPr algn="l">
              <a:lnSpc>
                <a:spcPts val="3143"/>
              </a:lnSpc>
            </a:pPr>
            <a:r>
              <a:rPr lang="en-US" sz="2245">
                <a:solidFill>
                  <a:srgbClr val="FFFFFF"/>
                </a:solidFill>
                <a:latin typeface="Canva Sans 2"/>
                <a:ea typeface="Canva Sans 2"/>
                <a:cs typeface="Canva Sans 2"/>
                <a:sym typeface="Canva Sans 2"/>
              </a:rPr>
              <a:t>Solution : Changed the circuit and changed the way the food opening was opened and closed.</a:t>
            </a:r>
          </a:p>
        </p:txBody>
      </p:sp>
      <p:sp>
        <p:nvSpPr>
          <p:cNvPr name="TextBox 9" id="9"/>
          <p:cNvSpPr txBox="true"/>
          <p:nvPr/>
        </p:nvSpPr>
        <p:spPr>
          <a:xfrm rot="0">
            <a:off x="1535350" y="4990768"/>
            <a:ext cx="12073970" cy="409129"/>
          </a:xfrm>
          <a:prstGeom prst="rect">
            <a:avLst/>
          </a:prstGeom>
        </p:spPr>
        <p:txBody>
          <a:bodyPr anchor="t" rtlCol="false" tIns="0" lIns="0" bIns="0" rIns="0">
            <a:spAutoFit/>
          </a:bodyPr>
          <a:lstStyle/>
          <a:p>
            <a:pPr algn="l" marL="515197" indent="-257599" lvl="1">
              <a:lnSpc>
                <a:spcPts val="3340"/>
              </a:lnSpc>
              <a:spcBef>
                <a:spcPct val="0"/>
              </a:spcBef>
              <a:buAutoNum type="arabicPeriod" startAt="1"/>
            </a:pPr>
            <a:r>
              <a:rPr lang="en-US" b="true" sz="2386">
                <a:solidFill>
                  <a:srgbClr val="FFFFFF"/>
                </a:solidFill>
                <a:latin typeface="Canva Sans 2 Medium"/>
                <a:ea typeface="Canva Sans 2 Medium"/>
                <a:cs typeface="Canva Sans 2 Medium"/>
                <a:sym typeface="Canva Sans 2 Medium"/>
              </a:rPr>
              <a:t>Servo Motor</a:t>
            </a:r>
          </a:p>
        </p:txBody>
      </p:sp>
      <p:sp>
        <p:nvSpPr>
          <p:cNvPr name="TextBox 10" id="10"/>
          <p:cNvSpPr txBox="true"/>
          <p:nvPr/>
        </p:nvSpPr>
        <p:spPr>
          <a:xfrm rot="0">
            <a:off x="1636988" y="7068427"/>
            <a:ext cx="15115662" cy="771643"/>
          </a:xfrm>
          <a:prstGeom prst="rect">
            <a:avLst/>
          </a:prstGeom>
        </p:spPr>
        <p:txBody>
          <a:bodyPr anchor="t" rtlCol="false" tIns="0" lIns="0" bIns="0" rIns="0">
            <a:spAutoFit/>
          </a:bodyPr>
          <a:lstStyle/>
          <a:p>
            <a:pPr algn="l">
              <a:lnSpc>
                <a:spcPts val="3143"/>
              </a:lnSpc>
            </a:pPr>
            <a:r>
              <a:rPr lang="en-US" sz="2245">
                <a:solidFill>
                  <a:srgbClr val="FFFFFF"/>
                </a:solidFill>
                <a:latin typeface="Canva Sans 2"/>
                <a:ea typeface="Canva Sans 2"/>
                <a:cs typeface="Canva Sans 2"/>
                <a:sym typeface="Canva Sans 2"/>
              </a:rPr>
              <a:t>Problem : Food got stuck in the dispensing opening, so it could not flow out continuously.</a:t>
            </a:r>
          </a:p>
          <a:p>
            <a:pPr algn="l">
              <a:lnSpc>
                <a:spcPts val="3143"/>
              </a:lnSpc>
            </a:pPr>
            <a:r>
              <a:rPr lang="en-US" sz="2245">
                <a:solidFill>
                  <a:srgbClr val="FFFFFF"/>
                </a:solidFill>
                <a:latin typeface="Canva Sans 2"/>
                <a:ea typeface="Canva Sans 2"/>
                <a:cs typeface="Canva Sans 2"/>
                <a:sym typeface="Canva Sans 2"/>
              </a:rPr>
              <a:t>Solution : Widened the dispensing opening to allow the food to flow more smoothly.</a:t>
            </a:r>
          </a:p>
        </p:txBody>
      </p:sp>
      <p:sp>
        <p:nvSpPr>
          <p:cNvPr name="TextBox 11" id="11"/>
          <p:cNvSpPr txBox="true"/>
          <p:nvPr/>
        </p:nvSpPr>
        <p:spPr>
          <a:xfrm rot="0">
            <a:off x="1535350" y="6544007"/>
            <a:ext cx="12073970" cy="409129"/>
          </a:xfrm>
          <a:prstGeom prst="rect">
            <a:avLst/>
          </a:prstGeom>
        </p:spPr>
        <p:txBody>
          <a:bodyPr anchor="t" rtlCol="false" tIns="0" lIns="0" bIns="0" rIns="0">
            <a:spAutoFit/>
          </a:bodyPr>
          <a:lstStyle/>
          <a:p>
            <a:pPr algn="l" marL="515197" indent="-257599" lvl="1">
              <a:lnSpc>
                <a:spcPts val="3340"/>
              </a:lnSpc>
              <a:spcBef>
                <a:spcPct val="0"/>
              </a:spcBef>
              <a:buAutoNum type="arabicPeriod" startAt="1"/>
            </a:pPr>
            <a:r>
              <a:rPr lang="en-US" b="true" sz="2386">
                <a:solidFill>
                  <a:srgbClr val="FFFFFF"/>
                </a:solidFill>
                <a:latin typeface="Canva Sans 2 Medium"/>
                <a:ea typeface="Canva Sans 2 Medium"/>
                <a:cs typeface="Canva Sans 2 Medium"/>
                <a:sym typeface="Canva Sans 2 Medium"/>
              </a:rPr>
              <a:t>Food Dispensing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22135"/>
        </a:solidFill>
      </p:bgPr>
    </p:bg>
    <p:spTree>
      <p:nvGrpSpPr>
        <p:cNvPr id="1" name=""/>
        <p:cNvGrpSpPr/>
        <p:nvPr/>
      </p:nvGrpSpPr>
      <p:grpSpPr>
        <a:xfrm>
          <a:off x="0" y="0"/>
          <a:ext cx="0" cy="0"/>
          <a:chOff x="0" y="0"/>
          <a:chExt cx="0" cy="0"/>
        </a:xfrm>
      </p:grpSpPr>
      <p:grpSp>
        <p:nvGrpSpPr>
          <p:cNvPr name="Group 2" id="2"/>
          <p:cNvGrpSpPr/>
          <p:nvPr/>
        </p:nvGrpSpPr>
        <p:grpSpPr>
          <a:xfrm rot="0">
            <a:off x="-388745" y="0"/>
            <a:ext cx="20574000" cy="10287000"/>
            <a:chOff x="0" y="0"/>
            <a:chExt cx="274320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160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4954174" y="7197560"/>
            <a:ext cx="3746991" cy="3627755"/>
          </a:xfrm>
          <a:custGeom>
            <a:avLst/>
            <a:gdLst/>
            <a:ahLst/>
            <a:cxnLst/>
            <a:rect r="r" b="b" t="t" l="l"/>
            <a:pathLst>
              <a:path h="3627755" w="3746991">
                <a:moveTo>
                  <a:pt x="0" y="0"/>
                </a:moveTo>
                <a:lnTo>
                  <a:pt x="3746991" y="0"/>
                </a:lnTo>
                <a:lnTo>
                  <a:pt x="3746991" y="3627755"/>
                </a:lnTo>
                <a:lnTo>
                  <a:pt x="0" y="36277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7076508" y="611957"/>
            <a:ext cx="2739535" cy="2652358"/>
          </a:xfrm>
          <a:custGeom>
            <a:avLst/>
            <a:gdLst/>
            <a:ahLst/>
            <a:cxnLst/>
            <a:rect r="r" b="b" t="t" l="l"/>
            <a:pathLst>
              <a:path h="2652358" w="2739535">
                <a:moveTo>
                  <a:pt x="2739535" y="0"/>
                </a:moveTo>
                <a:lnTo>
                  <a:pt x="0" y="0"/>
                </a:lnTo>
                <a:lnTo>
                  <a:pt x="0" y="2652358"/>
                </a:lnTo>
                <a:lnTo>
                  <a:pt x="2739535" y="2652358"/>
                </a:lnTo>
                <a:lnTo>
                  <a:pt x="27395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695628" y="1701003"/>
            <a:ext cx="5935913" cy="7557297"/>
          </a:xfrm>
          <a:custGeom>
            <a:avLst/>
            <a:gdLst/>
            <a:ahLst/>
            <a:cxnLst/>
            <a:rect r="r" b="b" t="t" l="l"/>
            <a:pathLst>
              <a:path h="7557297" w="5935913">
                <a:moveTo>
                  <a:pt x="0" y="0"/>
                </a:moveTo>
                <a:lnTo>
                  <a:pt x="5935913" y="0"/>
                </a:lnTo>
                <a:lnTo>
                  <a:pt x="5935913" y="7557297"/>
                </a:lnTo>
                <a:lnTo>
                  <a:pt x="0" y="7557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998700" y="3398546"/>
            <a:ext cx="1410345" cy="1365465"/>
          </a:xfrm>
          <a:custGeom>
            <a:avLst/>
            <a:gdLst/>
            <a:ahLst/>
            <a:cxnLst/>
            <a:rect r="r" b="b" t="t" l="l"/>
            <a:pathLst>
              <a:path h="1365465" w="1410345">
                <a:moveTo>
                  <a:pt x="0" y="0"/>
                </a:moveTo>
                <a:lnTo>
                  <a:pt x="1410345" y="0"/>
                </a:lnTo>
                <a:lnTo>
                  <a:pt x="1410345" y="1365466"/>
                </a:lnTo>
                <a:lnTo>
                  <a:pt x="0" y="13654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00740" y="3131846"/>
            <a:ext cx="9397515" cy="2383886"/>
          </a:xfrm>
          <a:prstGeom prst="rect">
            <a:avLst/>
          </a:prstGeom>
        </p:spPr>
        <p:txBody>
          <a:bodyPr anchor="t" rtlCol="false" tIns="0" lIns="0" bIns="0" rIns="0">
            <a:spAutoFit/>
          </a:bodyPr>
          <a:lstStyle/>
          <a:p>
            <a:pPr algn="l">
              <a:lnSpc>
                <a:spcPts val="19480"/>
              </a:lnSpc>
              <a:spcBef>
                <a:spcPct val="0"/>
              </a:spcBef>
            </a:pPr>
            <a:r>
              <a:rPr lang="en-US" sz="13914" b="true">
                <a:solidFill>
                  <a:srgbClr val="FFFFFF"/>
                </a:solidFill>
                <a:latin typeface="Bricolage Grotesque Bold"/>
                <a:ea typeface="Bricolage Grotesque Bold"/>
                <a:cs typeface="Bricolage Grotesque Bold"/>
                <a:sym typeface="Bricolage Grotesqu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DAHV1YxVjxs</dc:identifier>
  <dcterms:modified xsi:type="dcterms:W3CDTF">2011-08-01T06:04:30Z</dcterms:modified>
  <cp:revision>1</cp:revision>
  <dc:title>SMART PET FEEDER</dc:title>
</cp:coreProperties>
</file>